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R² (variance explained)</c:v>
                </c:pt>
              </c:strCache>
            </c:strRef>
          </c:tx>
          <c:spPr>
            <a:solidFill>
              <a:srgbClr val="B5446E"/>
            </a:solidFill>
            <a:effectLst/>
          </c:spPr>
          <c:invertIfNegative val="0"/>
          <c:dLbls>
            <c:numFmt formatCode="0.00" sourceLinked="0"/>
            <c:txPr>
              <a:bodyPr/>
              <a:lstStyle/>
              <a:p>
                <a:pPr>
                  <a:defRPr b="1" i="0" strike="noStrike" sz="1500" u="none">
                    <a:solidFill>
                      <a:srgbClr val="1C1B22"/>
                    </a:solidFill>
                    <a:latin typeface="Arial"/>
                  </a:defRPr>
                </a:pPr>
              </a:p>
            </c:txPr>
            <c:showLegendKey val="0"/>
            <c:showVal val="1"/>
            <c:showCatName val="0"/>
            <c:showSerName val="0"/>
            <c:showPercent val="0"/>
            <c:showBubbleSize val="0"/>
            <c:showLeaderLines val="0"/>
          </c:dLbls>
          <c:dPt>
            <c:idx val="0"/>
            <c:invertIfNegative val="0"/>
            <c:bubble3D val="0"/>
            <c:spPr>
              <a:solidFill>
                <a:srgbClr val="B5446E"/>
              </a:solidFill>
              <a:effectLst/>
            </c:spPr>
          </c:dPt>
          <c:dPt>
            <c:idx val="1"/>
            <c:invertIfNegative val="0"/>
            <c:bubble3D val="0"/>
            <c:spPr>
              <a:solidFill>
                <a:srgbClr val="4C9F70"/>
              </a:solidFill>
              <a:effectLst/>
            </c:spPr>
          </c:dPt>
          <c:cat>
            <c:multiLvlStrRef>
              <c:f>Sheet1!$A$2:$A$3</c:f>
              <c:multiLvlStrCache>
                <c:ptCount val="2"/>
                <c:lvl>
                  <c:pt idx="0">
                    <c:v>All 60 people
(controls pooled in)</c:v>
                  </c:pt>
                  <c:pt idx="1">
                    <c:v>Aphasia group only
(the honest number)</c:v>
                  </c:pt>
                </c:lvl>
              </c:multiLvlStrCache>
            </c:multiLvlStrRef>
          </c:cat>
          <c:val>
            <c:numRef>
              <c:f>Sheet1!$B$2:$B$3</c:f>
              <c:numCache>
                <c:formatCode>General</c:formatCode>
                <c:ptCount val="2"/>
                <c:pt idx="0">
                  <c:v>0.7</c:v>
                </c:pt>
                <c:pt idx="1">
                  <c:v>0.36</c:v>
                </c:pt>
              </c:numCache>
            </c:numRef>
          </c:val>
        </c:ser>
        <c:dLbls>
          <c:numFmt formatCode="0.00" sourceLinked="0"/>
          <c:txPr>
            <a:bodyPr/>
            <a:lstStyle/>
            <a:p>
              <a:pPr>
                <a:defRPr b="1" i="0" strike="noStrike" sz="1500" u="none">
                  <a:solidFill>
                    <a:srgbClr val="1C1B22"/>
                  </a:solidFill>
                  <a:latin typeface="Arial"/>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3A44"/>
                </a:solidFill>
                <a:latin typeface="Arial"/>
              </a:defRPr>
            </a:pPr>
            <a:endParaRPr lang="en-US"/>
          </a:p>
        </c:txPr>
        <c:crossAx val="2094734552"/>
        <c:crosses val="autoZero"/>
        <c:auto val="1"/>
        <c:lblAlgn val="ctr"/>
        <c:noMultiLvlLbl val="1"/>
      </c:catAx>
      <c:valAx>
        <c:axId val="2094734552"/>
        <c:scaling>
          <c:orientation val="minMax"/>
          <c:max val="0.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Three tabs open: your AI, Colab, Posit Cloud. Don't start until everyone's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out loud. Repeat it at the end. Everything today serves this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The third is the real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triage. Do not proceed until every laptop is in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 lecture. Two minutes. But they need the mental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teaching slide of block 1. Then demo the bad prompt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Normalise this hard. Beginners think an error means they broke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 it invents everything. Nobody's fault — you asked for nothing.
Demo 2: watch it change its answer under questioning. THE LINE: 'It knew. It always knew. It just doesn't lead with it. That gap is where your career gets damaged.'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Most common stall: they paste code without the imports.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Python block on one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make_data.py. The honest answer to 'can I use my real data' is: make a synthetic twin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Task 6. Native chart: same measure, two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them: Save a Permanent Copy. Say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and enthusiastic here. This is the genuine, unambiguous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Task 4. Nothing errored. That's the whole horror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Task 6. This is the one that surprises people. They expect false positives.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TOGETHER ON THE PROJECTOR. It is the punchline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in PROMPTS.md too. Tell them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This is the part their compliance office cares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don't teach. Demo `claude` in a terminal for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line. Land it and stop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B22"/>
        </a:solidFill>
      </p:bgPr>
    </p:bg>
    <p:spTree>
      <p:nvGrpSpPr>
        <p:cNvPr id="1" name=""/>
        <p:cNvGrpSpPr/>
        <p:nvPr/>
      </p:nvGrpSpPr>
      <p:grpSpPr>
        <a:xfrm>
          <a:off x="0" y="0"/>
          <a:ext cx="0" cy="0"/>
          <a:chOff x="0" y="0"/>
          <a:chExt cx="0" cy="0"/>
        </a:xfrm>
      </p:grpSpPr>
      <p:sp>
        <p:nvSpPr>
          <p:cNvPr id="2" name="Text 0"/>
          <p:cNvSpPr/>
          <p:nvPr/>
        </p:nvSpPr>
        <p:spPr>
          <a:xfrm>
            <a:off x="777240" y="2286000"/>
            <a:ext cx="10634472" cy="137160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Coding with AI</a:t>
            </a:r>
            <a:endParaRPr lang="en-US" sz="4600" dirty="0"/>
          </a:p>
        </p:txBody>
      </p:sp>
      <p:sp>
        <p:nvSpPr>
          <p:cNvPr id="3" name="Text 1"/>
          <p:cNvSpPr/>
          <p:nvPr/>
        </p:nvSpPr>
        <p:spPr>
          <a:xfrm>
            <a:off x="777240" y="3657600"/>
            <a:ext cx="10634472" cy="1463040"/>
          </a:xfrm>
          <a:prstGeom prst="rect">
            <a:avLst/>
          </a:prstGeom>
          <a:noFill/>
          <a:ln/>
        </p:spPr>
        <p:txBody>
          <a:bodyPr wrap="square" rtlCol="0" anchor="ctr"/>
          <a:lstStyle/>
          <a:p>
            <a:pPr indent="0" marL="0">
              <a:lnSpc>
                <a:spcPts val="3000"/>
              </a:lnSpc>
              <a:buNone/>
            </a:pPr>
            <a:r>
              <a:rPr lang="en-US" sz="2000" dirty="0">
                <a:solidFill>
                  <a:srgbClr val="C8C2CE"/>
                </a:solidFill>
                <a:latin typeface="Calibri" pitchFamily="34" charset="0"/>
                <a:ea typeface="Calibri" pitchFamily="34" charset="-122"/>
                <a:cs typeface="Calibri" pitchFamily="34" charset="-120"/>
              </a:rPr>
              <a:t>Python and R for people who don't code</a:t>
            </a:r>
            <a:endParaRPr lang="en-US" sz="2000" dirty="0"/>
          </a:p>
          <a:p>
            <a:pPr indent="0" marL="0">
              <a:lnSpc>
                <a:spcPts val="3000"/>
              </a:lnSpc>
              <a:buNone/>
            </a:pPr>
            <a:endParaRPr lang="en-US" sz="2000" dirty="0"/>
          </a:p>
          <a:p>
            <a:pPr indent="0" marL="0">
              <a:lnSpc>
                <a:spcPts val="3000"/>
              </a:lnSpc>
              <a:buNone/>
            </a:pPr>
            <a:r>
              <a:rPr lang="en-US" sz="2000" dirty="0">
                <a:solidFill>
                  <a:srgbClr val="C8C2CE"/>
                </a:solidFill>
                <a:latin typeface="Calibri" pitchFamily="34" charset="0"/>
                <a:ea typeface="Calibri" pitchFamily="34" charset="-122"/>
                <a:cs typeface="Calibri" pitchFamily="34" charset="-120"/>
              </a:rPr>
              <a:t>A hands-on workshop  ·  3 hours  ·  nothing to install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C1B22"/>
        </a:solidFill>
      </p:bgPr>
    </p:bg>
    <p:spTree>
      <p:nvGrpSpPr>
        <p:cNvPr id="1" name=""/>
        <p:cNvGrpSpPr/>
        <p:nvPr/>
      </p:nvGrpSpPr>
      <p:grpSpPr>
        <a:xfrm>
          <a:off x="0" y="0"/>
          <a:ext cx="0" cy="0"/>
          <a:chOff x="0" y="0"/>
          <a:chExt cx="0" cy="0"/>
        </a:xfrm>
      </p:grpSpPr>
      <p:sp>
        <p:nvSpPr>
          <p:cNvPr id="2" name="Text 0"/>
          <p:cNvSpPr/>
          <p:nvPr/>
        </p:nvSpPr>
        <p:spPr>
          <a:xfrm>
            <a:off x="777240" y="1828800"/>
            <a:ext cx="10634472" cy="82296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bottleneck was never typing.</a:t>
            </a:r>
            <a:endParaRPr lang="en-US" sz="4000" dirty="0"/>
          </a:p>
        </p:txBody>
      </p:sp>
      <p:sp>
        <p:nvSpPr>
          <p:cNvPr id="3" name="Text 1"/>
          <p:cNvSpPr/>
          <p:nvPr/>
        </p:nvSpPr>
        <p:spPr>
          <a:xfrm>
            <a:off x="777240" y="2697480"/>
            <a:ext cx="10634472" cy="822960"/>
          </a:xfrm>
          <a:prstGeom prst="rect">
            <a:avLst/>
          </a:prstGeom>
          <a:noFill/>
          <a:ln/>
        </p:spPr>
        <p:txBody>
          <a:bodyPr wrap="square" rtlCol="0" anchor="ctr"/>
          <a:lstStyle/>
          <a:p>
            <a:pPr indent="0" marL="0">
              <a:buNone/>
            </a:pPr>
            <a:r>
              <a:rPr lang="en-US" sz="4000" b="1" dirty="0">
                <a:solidFill>
                  <a:srgbClr val="B5446E"/>
                </a:solidFill>
                <a:latin typeface="Cambria" pitchFamily="34" charset="0"/>
                <a:ea typeface="Cambria" pitchFamily="34" charset="-122"/>
                <a:cs typeface="Cambria" pitchFamily="34" charset="-120"/>
              </a:rPr>
              <a:t>It was knowing what to type.</a:t>
            </a:r>
            <a:endParaRPr lang="en-US" sz="4000" dirty="0"/>
          </a:p>
        </p:txBody>
      </p:sp>
      <p:sp>
        <p:nvSpPr>
          <p:cNvPr id="4" name="Text 2"/>
          <p:cNvSpPr/>
          <p:nvPr/>
        </p:nvSpPr>
        <p:spPr>
          <a:xfrm>
            <a:off x="777240" y="3931920"/>
            <a:ext cx="9326880" cy="1463040"/>
          </a:xfrm>
          <a:prstGeom prst="rect">
            <a:avLst/>
          </a:prstGeom>
          <a:noFill/>
          <a:ln/>
        </p:spPr>
        <p:txBody>
          <a:bodyPr wrap="square" rtlCol="0" anchor="ctr"/>
          <a:lstStyle/>
          <a:p>
            <a:pPr indent="0" marL="0">
              <a:lnSpc>
                <a:spcPts val="3000"/>
              </a:lnSpc>
              <a:buNone/>
            </a:pPr>
            <a:r>
              <a:rPr lang="en-US" sz="1900" dirty="0">
                <a:solidFill>
                  <a:srgbClr val="C8C2CE"/>
                </a:solidFill>
                <a:latin typeface="Calibri" pitchFamily="34" charset="0"/>
                <a:ea typeface="Calibri" pitchFamily="34" charset="-122"/>
                <a:cs typeface="Calibri" pitchFamily="34" charset="-120"/>
              </a:rPr>
              <a:t>AI removes the typing.</a:t>
            </a:r>
            <a:endParaRPr lang="en-US" sz="1900" dirty="0"/>
          </a:p>
          <a:p>
            <a:pPr indent="0" marL="0">
              <a:lnSpc>
                <a:spcPts val="3000"/>
              </a:lnSpc>
              <a:buNone/>
            </a:pPr>
            <a:r>
              <a:rPr lang="en-US" sz="1900" dirty="0">
                <a:solidFill>
                  <a:srgbClr val="C8C2CE"/>
                </a:solidFill>
                <a:latin typeface="Calibri" pitchFamily="34" charset="0"/>
                <a:ea typeface="Calibri" pitchFamily="34" charset="-122"/>
                <a:cs typeface="Calibri" pitchFamily="34" charset="-120"/>
              </a:rPr>
              <a:t>It does not remove the knowing — it just makes it possible to skip the knowing without noticing that you did.</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10634472" cy="822960"/>
          </a:xfrm>
          <a:prstGeom prst="rect">
            <a:avLst/>
          </a:prstGeom>
          <a:noFill/>
          <a:ln/>
        </p:spPr>
        <p:txBody>
          <a:bodyPr wrap="square" lIns="0" tIns="0" rIns="0" bIns="0" rtlCol="0" anchor="ctr"/>
          <a:lstStyle/>
          <a:p>
            <a:pPr indent="0" marL="0">
              <a:buNone/>
            </a:pPr>
            <a:r>
              <a:rPr lang="en-US" sz="3400" b="1" dirty="0">
                <a:solidFill>
                  <a:srgbClr val="1C1B22"/>
                </a:solidFill>
                <a:latin typeface="Cambria" pitchFamily="34" charset="0"/>
                <a:ea typeface="Cambria" pitchFamily="34" charset="-122"/>
                <a:cs typeface="Cambria" pitchFamily="34" charset="-120"/>
              </a:rPr>
              <a:t>What you'll walk out with</a:t>
            </a:r>
            <a:endParaRPr lang="en-US" sz="3400" dirty="0"/>
          </a:p>
        </p:txBody>
      </p:sp>
      <p:sp>
        <p:nvSpPr>
          <p:cNvPr id="4" name="Shape 1"/>
          <p:cNvSpPr/>
          <p:nvPr/>
        </p:nvSpPr>
        <p:spPr>
          <a:xfrm>
            <a:off x="777240" y="1600200"/>
            <a:ext cx="3291840" cy="3566160"/>
          </a:xfrm>
          <a:prstGeom prst="roundRect">
            <a:avLst>
              <a:gd name="adj" fmla="val 2500"/>
            </a:avLst>
          </a:prstGeom>
          <a:solidFill>
            <a:srgbClr val="F4F2F5"/>
          </a:solidFill>
          <a:ln w="12700">
            <a:solidFill>
              <a:srgbClr val="DEDAE1"/>
            </a:solidFill>
            <a:prstDash val="solid"/>
          </a:ln>
        </p:spPr>
      </p:sp>
      <p:sp>
        <p:nvSpPr>
          <p:cNvPr id="5" name="Shape 2"/>
          <p:cNvSpPr/>
          <p:nvPr/>
        </p:nvSpPr>
        <p:spPr>
          <a:xfrm>
            <a:off x="1069848" y="1920240"/>
            <a:ext cx="457200" cy="457200"/>
          </a:xfrm>
          <a:prstGeom prst="ellipse">
            <a:avLst/>
          </a:prstGeom>
          <a:solidFill>
            <a:srgbClr val="4C9F70"/>
          </a:solidFill>
          <a:ln/>
        </p:spPr>
      </p:sp>
      <p:sp>
        <p:nvSpPr>
          <p:cNvPr id="6" name="Text 3"/>
          <p:cNvSpPr/>
          <p:nvPr/>
        </p:nvSpPr>
        <p:spPr>
          <a:xfrm>
            <a:off x="1069848" y="2560320"/>
            <a:ext cx="2743200" cy="457200"/>
          </a:xfrm>
          <a:prstGeom prst="rect">
            <a:avLst/>
          </a:prstGeom>
          <a:noFill/>
          <a:ln/>
        </p:spPr>
        <p:txBody>
          <a:bodyPr wrap="square" lIns="0" tIns="0" rIns="0" bIns="0" rtlCol="0" anchor="ctr"/>
          <a:lstStyle/>
          <a:p>
            <a:pPr indent="0" marL="0">
              <a:buNone/>
            </a:pPr>
            <a:r>
              <a:rPr lang="en-US" sz="1900" b="1" dirty="0">
                <a:solidFill>
                  <a:srgbClr val="1C1B22"/>
                </a:solidFill>
                <a:latin typeface="Cambria" pitchFamily="34" charset="0"/>
                <a:ea typeface="Cambria" pitchFamily="34" charset="-122"/>
                <a:cs typeface="Cambria" pitchFamily="34" charset="-120"/>
              </a:rPr>
              <a:t>An NLP pipeline</a:t>
            </a:r>
            <a:endParaRPr lang="en-US" sz="1900" dirty="0"/>
          </a:p>
        </p:txBody>
      </p:sp>
      <p:sp>
        <p:nvSpPr>
          <p:cNvPr id="7" name="Text 4"/>
          <p:cNvSpPr/>
          <p:nvPr/>
        </p:nvSpPr>
        <p:spPr>
          <a:xfrm>
            <a:off x="1069848" y="3063240"/>
            <a:ext cx="2706624" cy="1371600"/>
          </a:xfrm>
          <a:prstGeom prst="rect">
            <a:avLst/>
          </a:prstGeom>
          <a:noFill/>
          <a:ln/>
        </p:spPr>
        <p:txBody>
          <a:bodyPr wrap="square" lIns="0" tIns="0" rIns="0" bIns="0" rtlCol="0" anchor="ctr"/>
          <a:lstStyle/>
          <a:p>
            <a:pPr indent="0" marL="0">
              <a:lnSpc>
                <a:spcPts val="2000"/>
              </a:lnSpc>
              <a:buNone/>
            </a:pPr>
            <a:r>
              <a:rPr lang="en-US" sz="1400" dirty="0">
                <a:solidFill>
                  <a:srgbClr val="3A3A44"/>
                </a:solidFill>
                <a:latin typeface="Calibri" pitchFamily="34" charset="0"/>
                <a:ea typeface="Calibri" pitchFamily="34" charset="-122"/>
                <a:cs typeface="Calibri" pitchFamily="34" charset="-120"/>
              </a:rPr>
              <a:t>Turn 60 picture-description transcripts into quantitative language measures.</a:t>
            </a:r>
            <a:endParaRPr lang="en-US" sz="1400" dirty="0"/>
          </a:p>
        </p:txBody>
      </p:sp>
      <p:sp>
        <p:nvSpPr>
          <p:cNvPr id="8" name="Text 5"/>
          <p:cNvSpPr/>
          <p:nvPr/>
        </p:nvSpPr>
        <p:spPr>
          <a:xfrm>
            <a:off x="1069848" y="4526280"/>
            <a:ext cx="2706624" cy="457200"/>
          </a:xfrm>
          <a:prstGeom prst="rect">
            <a:avLst/>
          </a:prstGeom>
          <a:noFill/>
          <a:ln/>
        </p:spPr>
        <p:txBody>
          <a:bodyPr wrap="square" lIns="0" tIns="0" rIns="0" bIns="0" rtlCol="0" anchor="ctr"/>
          <a:lstStyle/>
          <a:p>
            <a:pPr indent="0" marL="0">
              <a:buNone/>
            </a:pPr>
            <a:r>
              <a:rPr lang="en-US" sz="1100" i="1" dirty="0">
                <a:solidFill>
                  <a:srgbClr val="6B6B76"/>
                </a:solidFill>
                <a:latin typeface="Calibri" pitchFamily="34" charset="0"/>
                <a:ea typeface="Calibri" pitchFamily="34" charset="-122"/>
                <a:cs typeface="Calibri" pitchFamily="34" charset="-120"/>
              </a:rPr>
              <a:t>Python · pandas · spaCy · scikit-learn</a:t>
            </a:r>
            <a:endParaRPr lang="en-US" sz="1100" dirty="0"/>
          </a:p>
        </p:txBody>
      </p:sp>
      <p:sp>
        <p:nvSpPr>
          <p:cNvPr id="9" name="Shape 6"/>
          <p:cNvSpPr/>
          <p:nvPr/>
        </p:nvSpPr>
        <p:spPr>
          <a:xfrm>
            <a:off x="4434840" y="1600200"/>
            <a:ext cx="3291840" cy="3566160"/>
          </a:xfrm>
          <a:prstGeom prst="roundRect">
            <a:avLst>
              <a:gd name="adj" fmla="val 2500"/>
            </a:avLst>
          </a:prstGeom>
          <a:solidFill>
            <a:srgbClr val="F4F2F5"/>
          </a:solidFill>
          <a:ln w="12700">
            <a:solidFill>
              <a:srgbClr val="DEDAE1"/>
            </a:solidFill>
            <a:prstDash val="solid"/>
          </a:ln>
        </p:spPr>
      </p:sp>
      <p:sp>
        <p:nvSpPr>
          <p:cNvPr id="10" name="Shape 7"/>
          <p:cNvSpPr/>
          <p:nvPr/>
        </p:nvSpPr>
        <p:spPr>
          <a:xfrm>
            <a:off x="4727448" y="1920240"/>
            <a:ext cx="457200" cy="457200"/>
          </a:xfrm>
          <a:prstGeom prst="ellipse">
            <a:avLst/>
          </a:prstGeom>
          <a:solidFill>
            <a:srgbClr val="B5446E"/>
          </a:solidFill>
          <a:ln/>
        </p:spPr>
      </p:sp>
      <p:sp>
        <p:nvSpPr>
          <p:cNvPr id="11" name="Text 8"/>
          <p:cNvSpPr/>
          <p:nvPr/>
        </p:nvSpPr>
        <p:spPr>
          <a:xfrm>
            <a:off x="4727448" y="2560320"/>
            <a:ext cx="2743200" cy="457200"/>
          </a:xfrm>
          <a:prstGeom prst="rect">
            <a:avLst/>
          </a:prstGeom>
          <a:noFill/>
          <a:ln/>
        </p:spPr>
        <p:txBody>
          <a:bodyPr wrap="square" lIns="0" tIns="0" rIns="0" bIns="0" rtlCol="0" anchor="ctr"/>
          <a:lstStyle/>
          <a:p>
            <a:pPr indent="0" marL="0">
              <a:buNone/>
            </a:pPr>
            <a:r>
              <a:rPr lang="en-US" sz="1900" b="1" dirty="0">
                <a:solidFill>
                  <a:srgbClr val="1C1B22"/>
                </a:solidFill>
                <a:latin typeface="Cambria" pitchFamily="34" charset="0"/>
                <a:ea typeface="Cambria" pitchFamily="34" charset="-122"/>
                <a:cs typeface="Cambria" pitchFamily="34" charset="-120"/>
              </a:rPr>
              <a:t>A model and a figure</a:t>
            </a:r>
            <a:endParaRPr lang="en-US" sz="1900" dirty="0"/>
          </a:p>
        </p:txBody>
      </p:sp>
      <p:sp>
        <p:nvSpPr>
          <p:cNvPr id="12" name="Text 9"/>
          <p:cNvSpPr/>
          <p:nvPr/>
        </p:nvSpPr>
        <p:spPr>
          <a:xfrm>
            <a:off x="4727448" y="3063240"/>
            <a:ext cx="2706624" cy="1371600"/>
          </a:xfrm>
          <a:prstGeom prst="rect">
            <a:avLst/>
          </a:prstGeom>
          <a:noFill/>
          <a:ln/>
        </p:spPr>
        <p:txBody>
          <a:bodyPr wrap="square" lIns="0" tIns="0" rIns="0" bIns="0" rtlCol="0" anchor="ctr"/>
          <a:lstStyle/>
          <a:p>
            <a:pPr indent="0" marL="0">
              <a:lnSpc>
                <a:spcPts val="2000"/>
              </a:lnSpc>
              <a:buNone/>
            </a:pPr>
            <a:r>
              <a:rPr lang="en-US" sz="1400" dirty="0">
                <a:solidFill>
                  <a:srgbClr val="3A3A44"/>
                </a:solidFill>
                <a:latin typeface="Calibri" pitchFamily="34" charset="0"/>
                <a:ea typeface="Calibri" pitchFamily="34" charset="-122"/>
                <a:cs typeface="Calibri" pitchFamily="34" charset="-120"/>
              </a:rPr>
              <a:t>Predict aphasia severity from language. Make a plot you'd put in a paper.</a:t>
            </a:r>
            <a:endParaRPr lang="en-US" sz="1400" dirty="0"/>
          </a:p>
        </p:txBody>
      </p:sp>
      <p:sp>
        <p:nvSpPr>
          <p:cNvPr id="13" name="Text 10"/>
          <p:cNvSpPr/>
          <p:nvPr/>
        </p:nvSpPr>
        <p:spPr>
          <a:xfrm>
            <a:off x="4727448" y="4526280"/>
            <a:ext cx="2706624" cy="457200"/>
          </a:xfrm>
          <a:prstGeom prst="rect">
            <a:avLst/>
          </a:prstGeom>
          <a:noFill/>
          <a:ln/>
        </p:spPr>
        <p:txBody>
          <a:bodyPr wrap="square" lIns="0" tIns="0" rIns="0" bIns="0" rtlCol="0" anchor="ctr"/>
          <a:lstStyle/>
          <a:p>
            <a:pPr indent="0" marL="0">
              <a:buNone/>
            </a:pPr>
            <a:r>
              <a:rPr lang="en-US" sz="1100" i="1" dirty="0">
                <a:solidFill>
                  <a:srgbClr val="6B6B76"/>
                </a:solidFill>
                <a:latin typeface="Calibri" pitchFamily="34" charset="0"/>
                <a:ea typeface="Calibri" pitchFamily="34" charset="-122"/>
                <a:cs typeface="Calibri" pitchFamily="34" charset="-120"/>
              </a:rPr>
              <a:t>R · dplyr · lme4 · ggplot2</a:t>
            </a:r>
            <a:endParaRPr lang="en-US" sz="1100" dirty="0"/>
          </a:p>
        </p:txBody>
      </p:sp>
      <p:sp>
        <p:nvSpPr>
          <p:cNvPr id="14" name="Shape 11"/>
          <p:cNvSpPr/>
          <p:nvPr/>
        </p:nvSpPr>
        <p:spPr>
          <a:xfrm>
            <a:off x="8092440" y="1600200"/>
            <a:ext cx="3291840" cy="3566160"/>
          </a:xfrm>
          <a:prstGeom prst="roundRect">
            <a:avLst>
              <a:gd name="adj" fmla="val 2500"/>
            </a:avLst>
          </a:prstGeom>
          <a:solidFill>
            <a:srgbClr val="F4F2F5"/>
          </a:solidFill>
          <a:ln w="12700">
            <a:solidFill>
              <a:srgbClr val="DEDAE1"/>
            </a:solidFill>
            <a:prstDash val="solid"/>
          </a:ln>
        </p:spPr>
      </p:sp>
      <p:sp>
        <p:nvSpPr>
          <p:cNvPr id="15" name="Shape 12"/>
          <p:cNvSpPr/>
          <p:nvPr/>
        </p:nvSpPr>
        <p:spPr>
          <a:xfrm>
            <a:off x="8385048" y="1920240"/>
            <a:ext cx="457200" cy="457200"/>
          </a:xfrm>
          <a:prstGeom prst="ellipse">
            <a:avLst/>
          </a:prstGeom>
          <a:solidFill>
            <a:srgbClr val="D98C2B"/>
          </a:solidFill>
          <a:ln/>
        </p:spPr>
      </p:sp>
      <p:sp>
        <p:nvSpPr>
          <p:cNvPr id="16" name="Text 13"/>
          <p:cNvSpPr/>
          <p:nvPr/>
        </p:nvSpPr>
        <p:spPr>
          <a:xfrm>
            <a:off x="8385048" y="2560320"/>
            <a:ext cx="2743200" cy="457200"/>
          </a:xfrm>
          <a:prstGeom prst="rect">
            <a:avLst/>
          </a:prstGeom>
          <a:noFill/>
          <a:ln/>
        </p:spPr>
        <p:txBody>
          <a:bodyPr wrap="square" lIns="0" tIns="0" rIns="0" bIns="0" rtlCol="0" anchor="ctr"/>
          <a:lstStyle/>
          <a:p>
            <a:pPr indent="0" marL="0">
              <a:buNone/>
            </a:pPr>
            <a:r>
              <a:rPr lang="en-US" sz="1900" b="1" dirty="0">
                <a:solidFill>
                  <a:srgbClr val="1C1B22"/>
                </a:solidFill>
                <a:latin typeface="Cambria" pitchFamily="34" charset="0"/>
                <a:ea typeface="Cambria" pitchFamily="34" charset="-122"/>
                <a:cs typeface="Cambria" pitchFamily="34" charset="-120"/>
              </a:rPr>
              <a:t>A working BS detector</a:t>
            </a:r>
            <a:endParaRPr lang="en-US" sz="1900" dirty="0"/>
          </a:p>
        </p:txBody>
      </p:sp>
      <p:sp>
        <p:nvSpPr>
          <p:cNvPr id="17" name="Text 14"/>
          <p:cNvSpPr/>
          <p:nvPr/>
        </p:nvSpPr>
        <p:spPr>
          <a:xfrm>
            <a:off x="8385048" y="3063240"/>
            <a:ext cx="2706624" cy="1371600"/>
          </a:xfrm>
          <a:prstGeom prst="rect">
            <a:avLst/>
          </a:prstGeom>
          <a:noFill/>
          <a:ln/>
        </p:spPr>
        <p:txBody>
          <a:bodyPr wrap="square" lIns="0" tIns="0" rIns="0" bIns="0" rtlCol="0" anchor="ctr"/>
          <a:lstStyle/>
          <a:p>
            <a:pPr indent="0" marL="0">
              <a:lnSpc>
                <a:spcPts val="2000"/>
              </a:lnSpc>
              <a:buNone/>
            </a:pPr>
            <a:r>
              <a:rPr lang="en-US" sz="1400" dirty="0">
                <a:solidFill>
                  <a:srgbClr val="3A3A44"/>
                </a:solidFill>
                <a:latin typeface="Calibri" pitchFamily="34" charset="0"/>
                <a:ea typeface="Calibri" pitchFamily="34" charset="-122"/>
                <a:cs typeface="Calibri" pitchFamily="34" charset="-120"/>
              </a:rPr>
              <a:t>The ability to tell when your assistant is quietly, fluently wrong.</a:t>
            </a:r>
            <a:endParaRPr lang="en-US" sz="1400" dirty="0"/>
          </a:p>
        </p:txBody>
      </p:sp>
      <p:sp>
        <p:nvSpPr>
          <p:cNvPr id="18" name="Text 15"/>
          <p:cNvSpPr/>
          <p:nvPr/>
        </p:nvSpPr>
        <p:spPr>
          <a:xfrm>
            <a:off x="8385048" y="4526280"/>
            <a:ext cx="2706624" cy="457200"/>
          </a:xfrm>
          <a:prstGeom prst="rect">
            <a:avLst/>
          </a:prstGeom>
          <a:noFill/>
          <a:ln/>
        </p:spPr>
        <p:txBody>
          <a:bodyPr wrap="square" lIns="0" tIns="0" rIns="0" bIns="0" rtlCol="0" anchor="ctr"/>
          <a:lstStyle/>
          <a:p>
            <a:pPr indent="0" marL="0">
              <a:buNone/>
            </a:pPr>
            <a:r>
              <a:rPr lang="en-US" sz="1100" i="1" dirty="0">
                <a:solidFill>
                  <a:srgbClr val="6B6B76"/>
                </a:solidFill>
                <a:latin typeface="Calibri" pitchFamily="34" charset="0"/>
                <a:ea typeface="Calibri" pitchFamily="34" charset="-122"/>
                <a:cs typeface="Calibri" pitchFamily="34" charset="-120"/>
              </a:rPr>
              <a:t>The part that actually matters</a:t>
            </a:r>
            <a:endParaRPr lang="en-US" sz="1100" dirty="0"/>
          </a:p>
        </p:txBody>
      </p:sp>
      <p:sp>
        <p:nvSpPr>
          <p:cNvPr id="19" name="Text 16"/>
          <p:cNvSpPr/>
          <p:nvPr/>
        </p:nvSpPr>
        <p:spPr>
          <a:xfrm>
            <a:off x="777240" y="5532120"/>
            <a:ext cx="10607040" cy="457200"/>
          </a:xfrm>
          <a:prstGeom prst="rect">
            <a:avLst/>
          </a:prstGeom>
          <a:noFill/>
          <a:ln/>
        </p:spPr>
        <p:txBody>
          <a:bodyPr wrap="square" lIns="0" tIns="0" rIns="0" bIns="0" rtlCol="0" anchor="ctr"/>
          <a:lstStyle/>
          <a:p>
            <a:pPr indent="0" marL="0">
              <a:buNone/>
            </a:pPr>
            <a:r>
              <a:rPr lang="en-US" sz="1600" i="1" dirty="0">
                <a:solidFill>
                  <a:srgbClr val="B5446E"/>
                </a:solidFill>
                <a:latin typeface="Calibri" pitchFamily="34" charset="0"/>
                <a:ea typeface="Calibri" pitchFamily="34" charset="-122"/>
                <a:cs typeface="Calibri" pitchFamily="34" charset="-120"/>
              </a:rPr>
              <a:t>You will not type much code today. That is the point.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10634472" cy="822960"/>
          </a:xfrm>
          <a:prstGeom prst="rect">
            <a:avLst/>
          </a:prstGeom>
          <a:noFill/>
          <a:ln/>
        </p:spPr>
        <p:txBody>
          <a:bodyPr wrap="square" lIns="0" tIns="0" rIns="0" bIns="0" rtlCol="0" anchor="ctr"/>
          <a:lstStyle/>
          <a:p>
            <a:pPr indent="0" marL="0">
              <a:buNone/>
            </a:pPr>
            <a:r>
              <a:rPr lang="en-US" sz="3400" b="1" dirty="0">
                <a:solidFill>
                  <a:srgbClr val="1C1B22"/>
                </a:solidFill>
                <a:latin typeface="Cambria" pitchFamily="34" charset="0"/>
                <a:ea typeface="Cambria" pitchFamily="34" charset="-122"/>
                <a:cs typeface="Cambria" pitchFamily="34" charset="-120"/>
              </a:rPr>
              <a:t>Three tabs. That's the whole setup.</a:t>
            </a:r>
            <a:endParaRPr lang="en-US" sz="3400" dirty="0"/>
          </a:p>
        </p:txBody>
      </p:sp>
      <p:sp>
        <p:nvSpPr>
          <p:cNvPr id="4" name="Shape 1"/>
          <p:cNvSpPr/>
          <p:nvPr/>
        </p:nvSpPr>
        <p:spPr>
          <a:xfrm>
            <a:off x="777240" y="1837944"/>
            <a:ext cx="384048" cy="384048"/>
          </a:xfrm>
          <a:prstGeom prst="ellipse">
            <a:avLst/>
          </a:prstGeom>
          <a:solidFill>
            <a:srgbClr val="B5446E"/>
          </a:solidFill>
          <a:ln/>
        </p:spPr>
      </p:sp>
      <p:sp>
        <p:nvSpPr>
          <p:cNvPr id="5" name="Text 2"/>
          <p:cNvSpPr/>
          <p:nvPr/>
        </p:nvSpPr>
        <p:spPr>
          <a:xfrm>
            <a:off x="777240" y="18379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3"/>
          <p:cNvSpPr/>
          <p:nvPr/>
        </p:nvSpPr>
        <p:spPr>
          <a:xfrm>
            <a:off x="1435608" y="1691640"/>
            <a:ext cx="3017520" cy="384048"/>
          </a:xfrm>
          <a:prstGeom prst="rect">
            <a:avLst/>
          </a:prstGeom>
          <a:noFill/>
          <a:ln/>
        </p:spPr>
        <p:txBody>
          <a:bodyPr wrap="square" lIns="0" tIns="0" rIns="0" bIns="0" rtlCol="0" anchor="ctr"/>
          <a:lstStyle/>
          <a:p>
            <a:pPr indent="0" marL="0">
              <a:buNone/>
            </a:pPr>
            <a:r>
              <a:rPr lang="en-US" sz="1800" b="1" dirty="0">
                <a:solidFill>
                  <a:srgbClr val="1C1B22"/>
                </a:solidFill>
                <a:latin typeface="Cambria" pitchFamily="34" charset="0"/>
                <a:ea typeface="Cambria" pitchFamily="34" charset="-122"/>
                <a:cs typeface="Cambria" pitchFamily="34" charset="-120"/>
              </a:rPr>
              <a:t>Your AI assistant</a:t>
            </a:r>
            <a:endParaRPr lang="en-US" sz="1800" dirty="0"/>
          </a:p>
        </p:txBody>
      </p:sp>
      <p:sp>
        <p:nvSpPr>
          <p:cNvPr id="7" name="Text 4"/>
          <p:cNvSpPr/>
          <p:nvPr/>
        </p:nvSpPr>
        <p:spPr>
          <a:xfrm>
            <a:off x="1435608" y="2112264"/>
            <a:ext cx="8686800" cy="548640"/>
          </a:xfrm>
          <a:prstGeom prst="rect">
            <a:avLst/>
          </a:prstGeom>
          <a:noFill/>
          <a:ln/>
        </p:spPr>
        <p:txBody>
          <a:bodyPr wrap="square" lIns="0" tIns="0" rIns="0" bIns="0" rtlCol="0" anchor="ctr"/>
          <a:lstStyle/>
          <a:p>
            <a:pPr indent="0" marL="0">
              <a:buNone/>
            </a:pPr>
            <a:r>
              <a:rPr lang="en-US" sz="1400" dirty="0">
                <a:solidFill>
                  <a:srgbClr val="3A3A44"/>
                </a:solidFill>
                <a:latin typeface="Calibri" pitchFamily="34" charset="0"/>
                <a:ea typeface="Calibri" pitchFamily="34" charset="-122"/>
                <a:cs typeface="Calibri" pitchFamily="34" charset="-120"/>
              </a:rPr>
              <a:t>claude.ai — or ChatGPT, or whatever your institution gives you. Free tier is fine.</a:t>
            </a:r>
            <a:endParaRPr lang="en-US" sz="1400" dirty="0"/>
          </a:p>
        </p:txBody>
      </p:sp>
      <p:sp>
        <p:nvSpPr>
          <p:cNvPr id="8" name="Shape 5"/>
          <p:cNvSpPr/>
          <p:nvPr/>
        </p:nvSpPr>
        <p:spPr>
          <a:xfrm>
            <a:off x="777240" y="3118104"/>
            <a:ext cx="384048" cy="384048"/>
          </a:xfrm>
          <a:prstGeom prst="ellipse">
            <a:avLst/>
          </a:prstGeom>
          <a:solidFill>
            <a:srgbClr val="4C9F70"/>
          </a:solidFill>
          <a:ln/>
        </p:spPr>
      </p:sp>
      <p:sp>
        <p:nvSpPr>
          <p:cNvPr id="9" name="Text 6"/>
          <p:cNvSpPr/>
          <p:nvPr/>
        </p:nvSpPr>
        <p:spPr>
          <a:xfrm>
            <a:off x="777240" y="31181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7"/>
          <p:cNvSpPr/>
          <p:nvPr/>
        </p:nvSpPr>
        <p:spPr>
          <a:xfrm>
            <a:off x="1435608" y="2971800"/>
            <a:ext cx="3017520" cy="384048"/>
          </a:xfrm>
          <a:prstGeom prst="rect">
            <a:avLst/>
          </a:prstGeom>
          <a:noFill/>
          <a:ln/>
        </p:spPr>
        <p:txBody>
          <a:bodyPr wrap="square" lIns="0" tIns="0" rIns="0" bIns="0" rtlCol="0" anchor="ctr"/>
          <a:lstStyle/>
          <a:p>
            <a:pPr indent="0" marL="0">
              <a:buNone/>
            </a:pPr>
            <a:r>
              <a:rPr lang="en-US" sz="1800" b="1" dirty="0">
                <a:solidFill>
                  <a:srgbClr val="1C1B22"/>
                </a:solidFill>
                <a:latin typeface="Cambria" pitchFamily="34" charset="0"/>
                <a:ea typeface="Cambria" pitchFamily="34" charset="-122"/>
                <a:cs typeface="Cambria" pitchFamily="34" charset="-120"/>
              </a:rPr>
              <a:t>Google Colab</a:t>
            </a:r>
            <a:endParaRPr lang="en-US" sz="1800" dirty="0"/>
          </a:p>
        </p:txBody>
      </p:sp>
      <p:sp>
        <p:nvSpPr>
          <p:cNvPr id="11" name="Text 8"/>
          <p:cNvSpPr/>
          <p:nvPr/>
        </p:nvSpPr>
        <p:spPr>
          <a:xfrm>
            <a:off x="1435608" y="3392424"/>
            <a:ext cx="8686800" cy="548640"/>
          </a:xfrm>
          <a:prstGeom prst="rect">
            <a:avLst/>
          </a:prstGeom>
          <a:noFill/>
          <a:ln/>
        </p:spPr>
        <p:txBody>
          <a:bodyPr wrap="square" lIns="0" tIns="0" rIns="0" bIns="0" rtlCol="0" anchor="ctr"/>
          <a:lstStyle/>
          <a:p>
            <a:pPr indent="0" marL="0">
              <a:buNone/>
            </a:pPr>
            <a:r>
              <a:rPr lang="en-US" sz="1400" dirty="0">
                <a:solidFill>
                  <a:srgbClr val="3A3A44"/>
                </a:solidFill>
                <a:latin typeface="Calibri" pitchFamily="34" charset="0"/>
                <a:ea typeface="Calibri" pitchFamily="34" charset="-122"/>
                <a:cs typeface="Calibri" pitchFamily="34" charset="-120"/>
              </a:rPr>
              <a:t>Python in the browser. colab.research.google.com. Nothing installs on your machine.</a:t>
            </a:r>
            <a:endParaRPr lang="en-US" sz="1400" dirty="0"/>
          </a:p>
        </p:txBody>
      </p:sp>
      <p:sp>
        <p:nvSpPr>
          <p:cNvPr id="12" name="Shape 9"/>
          <p:cNvSpPr/>
          <p:nvPr/>
        </p:nvSpPr>
        <p:spPr>
          <a:xfrm>
            <a:off x="777240" y="4398264"/>
            <a:ext cx="384048" cy="384048"/>
          </a:xfrm>
          <a:prstGeom prst="ellipse">
            <a:avLst/>
          </a:prstGeom>
          <a:solidFill>
            <a:srgbClr val="D98C2B"/>
          </a:solidFill>
          <a:ln/>
        </p:spPr>
      </p:sp>
      <p:sp>
        <p:nvSpPr>
          <p:cNvPr id="13" name="Text 10"/>
          <p:cNvSpPr/>
          <p:nvPr/>
        </p:nvSpPr>
        <p:spPr>
          <a:xfrm>
            <a:off x="777240" y="43982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p:nvPr/>
        </p:nvSpPr>
        <p:spPr>
          <a:xfrm>
            <a:off x="1435608" y="4251960"/>
            <a:ext cx="3017520" cy="384048"/>
          </a:xfrm>
          <a:prstGeom prst="rect">
            <a:avLst/>
          </a:prstGeom>
          <a:noFill/>
          <a:ln/>
        </p:spPr>
        <p:txBody>
          <a:bodyPr wrap="square" lIns="0" tIns="0" rIns="0" bIns="0" rtlCol="0" anchor="ctr"/>
          <a:lstStyle/>
          <a:p>
            <a:pPr indent="0" marL="0">
              <a:buNone/>
            </a:pPr>
            <a:r>
              <a:rPr lang="en-US" sz="1800" b="1" dirty="0">
                <a:solidFill>
                  <a:srgbClr val="1C1B22"/>
                </a:solidFill>
                <a:latin typeface="Cambria" pitchFamily="34" charset="0"/>
                <a:ea typeface="Cambria" pitchFamily="34" charset="-122"/>
                <a:cs typeface="Cambria" pitchFamily="34" charset="-120"/>
              </a:rPr>
              <a:t>Posit Cloud</a:t>
            </a:r>
            <a:endParaRPr lang="en-US" sz="1800" dirty="0"/>
          </a:p>
        </p:txBody>
      </p:sp>
      <p:sp>
        <p:nvSpPr>
          <p:cNvPr id="15" name="Text 12"/>
          <p:cNvSpPr/>
          <p:nvPr/>
        </p:nvSpPr>
        <p:spPr>
          <a:xfrm>
            <a:off x="1435608" y="4672584"/>
            <a:ext cx="8686800" cy="548640"/>
          </a:xfrm>
          <a:prstGeom prst="rect">
            <a:avLst/>
          </a:prstGeom>
          <a:noFill/>
          <a:ln/>
        </p:spPr>
        <p:txBody>
          <a:bodyPr wrap="square" lIns="0" tIns="0" rIns="0" bIns="0" rtlCol="0" anchor="ctr"/>
          <a:lstStyle/>
          <a:p>
            <a:pPr indent="0" marL="0">
              <a:buNone/>
            </a:pPr>
            <a:r>
              <a:rPr lang="en-US" sz="1400" dirty="0">
                <a:solidFill>
                  <a:srgbClr val="3A3A44"/>
                </a:solidFill>
                <a:latin typeface="Calibri" pitchFamily="34" charset="0"/>
                <a:ea typeface="Calibri" pitchFamily="34" charset="-122"/>
                <a:cs typeface="Calibri" pitchFamily="34" charset="-120"/>
              </a:rPr>
              <a:t>RStudio in the browser. posit.cloud. Click SAVE A PERMANENT COPY or you lose your work.</a:t>
            </a:r>
            <a:endParaRPr lang="en-US" sz="1400" dirty="0"/>
          </a:p>
        </p:txBody>
      </p:sp>
      <p:sp>
        <p:nvSpPr>
          <p:cNvPr id="16" name="Shape 13"/>
          <p:cNvSpPr/>
          <p:nvPr/>
        </p:nvSpPr>
        <p:spPr>
          <a:xfrm>
            <a:off x="777240" y="5532120"/>
            <a:ext cx="10607040" cy="777240"/>
          </a:xfrm>
          <a:prstGeom prst="roundRect">
            <a:avLst>
              <a:gd name="adj" fmla="val 10588"/>
            </a:avLst>
          </a:prstGeom>
          <a:solidFill>
            <a:srgbClr val="FBF0F4"/>
          </a:solidFill>
          <a:ln w="12700">
            <a:solidFill>
              <a:srgbClr val="DEDAE1"/>
            </a:solidFill>
            <a:prstDash val="solid"/>
          </a:ln>
        </p:spPr>
      </p:sp>
      <p:sp>
        <p:nvSpPr>
          <p:cNvPr id="17" name="Text 14"/>
          <p:cNvSpPr/>
          <p:nvPr/>
        </p:nvSpPr>
        <p:spPr>
          <a:xfrm>
            <a:off x="1051560" y="5532120"/>
            <a:ext cx="10058400" cy="777240"/>
          </a:xfrm>
          <a:prstGeom prst="rect">
            <a:avLst/>
          </a:prstGeom>
          <a:noFill/>
          <a:ln/>
        </p:spPr>
        <p:txBody>
          <a:bodyPr wrap="square" lIns="0" tIns="0" rIns="0" bIns="0" rtlCol="0" anchor="ctr"/>
          <a:lstStyle/>
          <a:p>
            <a:pPr indent="0" marL="0">
              <a:buNone/>
            </a:pPr>
            <a:r>
              <a:rPr lang="en-US" sz="1400" b="1" dirty="0">
                <a:solidFill>
                  <a:srgbClr val="B5446E"/>
                </a:solidFill>
                <a:latin typeface="Calibri" pitchFamily="34" charset="0"/>
                <a:ea typeface="Calibri" pitchFamily="34" charset="-122"/>
                <a:cs typeface="Calibri" pitchFamily="34" charset="-120"/>
              </a:rPr>
              <a:t>Today's data is 100% synthetic. Generated by a script. Nobody's health information is anywhere in this room.</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10634472" cy="822960"/>
          </a:xfrm>
          <a:prstGeom prst="rect">
            <a:avLst/>
          </a:prstGeom>
          <a:noFill/>
          <a:ln/>
        </p:spPr>
        <p:txBody>
          <a:bodyPr wrap="square" lIns="0" tIns="0" rIns="0" bIns="0" rtlCol="0" anchor="ctr"/>
          <a:lstStyle/>
          <a:p>
            <a:pPr indent="0" marL="0">
              <a:buNone/>
            </a:pPr>
            <a:r>
              <a:rPr lang="en-US" sz="3400" b="1" dirty="0">
                <a:solidFill>
                  <a:srgbClr val="1C1B22"/>
                </a:solidFill>
                <a:latin typeface="Cambria" pitchFamily="34" charset="0"/>
                <a:ea typeface="Cambria" pitchFamily="34" charset="-122"/>
                <a:cs typeface="Cambria" pitchFamily="34" charset="-120"/>
              </a:rPr>
              <a:t>What is actually happening when it writes code</a:t>
            </a:r>
            <a:endParaRPr lang="en-US" sz="3400" dirty="0"/>
          </a:p>
        </p:txBody>
      </p:sp>
      <p:sp>
        <p:nvSpPr>
          <p:cNvPr id="4" name="Shape 1"/>
          <p:cNvSpPr/>
          <p:nvPr/>
        </p:nvSpPr>
        <p:spPr>
          <a:xfrm>
            <a:off x="777240" y="1554480"/>
            <a:ext cx="5120640" cy="3840480"/>
          </a:xfrm>
          <a:prstGeom prst="roundRect">
            <a:avLst>
              <a:gd name="adj" fmla="val 2143"/>
            </a:avLst>
          </a:prstGeom>
          <a:solidFill>
            <a:srgbClr val="F1F7F3"/>
          </a:solidFill>
          <a:ln w="12700">
            <a:solidFill>
              <a:srgbClr val="DEDAE1"/>
            </a:solidFill>
            <a:prstDash val="solid"/>
          </a:ln>
        </p:spPr>
      </p:sp>
      <p:sp>
        <p:nvSpPr>
          <p:cNvPr id="5" name="Text 2"/>
          <p:cNvSpPr/>
          <p:nvPr/>
        </p:nvSpPr>
        <p:spPr>
          <a:xfrm>
            <a:off x="1097280" y="1783080"/>
            <a:ext cx="4572000" cy="365760"/>
          </a:xfrm>
          <a:prstGeom prst="rect">
            <a:avLst/>
          </a:prstGeom>
          <a:noFill/>
          <a:ln/>
        </p:spPr>
        <p:txBody>
          <a:bodyPr wrap="square" lIns="0" tIns="0" rIns="0" bIns="0" rtlCol="0" anchor="ctr"/>
          <a:lstStyle/>
          <a:p>
            <a:pPr indent="0" marL="0">
              <a:buNone/>
            </a:pPr>
            <a:r>
              <a:rPr lang="en-US" sz="1700" b="1" dirty="0">
                <a:solidFill>
                  <a:srgbClr val="4C9F70"/>
                </a:solidFill>
                <a:latin typeface="Cambria" pitchFamily="34" charset="0"/>
                <a:ea typeface="Cambria" pitchFamily="34" charset="-122"/>
                <a:cs typeface="Cambria" pitchFamily="34" charset="-120"/>
              </a:rPr>
              <a:t>What it IS doing</a:t>
            </a:r>
            <a:endParaRPr lang="en-US" sz="1700" dirty="0"/>
          </a:p>
        </p:txBody>
      </p:sp>
      <p:sp>
        <p:nvSpPr>
          <p:cNvPr id="6" name="Text 3"/>
          <p:cNvSpPr/>
          <p:nvPr/>
        </p:nvSpPr>
        <p:spPr>
          <a:xfrm>
            <a:off x="1097280" y="2286000"/>
            <a:ext cx="4572000" cy="2926080"/>
          </a:xfrm>
          <a:prstGeom prst="rect">
            <a:avLst/>
          </a:prstGeom>
          <a:noFill/>
          <a:ln/>
        </p:spPr>
        <p:txBody>
          <a:bodyPr wrap="square" lIns="0" tIns="0" rIns="0" bIns="0" rtlCol="0" anchor="ctr"/>
          <a:lstStyle/>
          <a:p>
            <a:pPr marL="342900" indent="-342900">
              <a:spcAft>
                <a:spcPts val="1000"/>
              </a:spcAft>
              <a:buSzPct val="100000"/>
              <a:buChar char="•"/>
            </a:pPr>
            <a:r>
              <a:rPr lang="en-US" sz="1400" dirty="0">
                <a:solidFill>
                  <a:srgbClr val="3A3A44"/>
                </a:solidFill>
                <a:latin typeface="Calibri" pitchFamily="34" charset="0"/>
                <a:ea typeface="Calibri" pitchFamily="34" charset="-122"/>
                <a:cs typeface="Calibri" pitchFamily="34" charset="-120"/>
              </a:rPr>
              <a:t>Predicting the next token, given everything before it</a:t>
            </a:r>
            <a:endParaRPr lang="en-US" sz="1400" dirty="0"/>
          </a:p>
          <a:p>
            <a:pPr marL="342900" indent="-342900">
              <a:spcAft>
                <a:spcPts val="1000"/>
              </a:spcAft>
              <a:buSzPct val="100000"/>
              <a:buChar char="•"/>
            </a:pPr>
            <a:r>
              <a:rPr lang="en-US" sz="1400" dirty="0">
                <a:solidFill>
                  <a:srgbClr val="3A3A44"/>
                </a:solidFill>
                <a:latin typeface="Calibri" pitchFamily="34" charset="0"/>
                <a:ea typeface="Calibri" pitchFamily="34" charset="-122"/>
                <a:cs typeface="Calibri" pitchFamily="34" charset="-120"/>
              </a:rPr>
              <a:t>Trained on essentially all public code and documentation</a:t>
            </a:r>
            <a:endParaRPr lang="en-US" sz="1400" dirty="0"/>
          </a:p>
          <a:p>
            <a:pPr marL="342900" indent="-342900">
              <a:spcAft>
                <a:spcPts val="1000"/>
              </a:spcAft>
              <a:buSzPct val="100000"/>
              <a:buChar char="•"/>
            </a:pPr>
            <a:r>
              <a:rPr lang="en-US" sz="1400" dirty="0">
                <a:solidFill>
                  <a:srgbClr val="3A3A44"/>
                </a:solidFill>
                <a:latin typeface="Calibri" pitchFamily="34" charset="0"/>
                <a:ea typeface="Calibri" pitchFamily="34" charset="-122"/>
                <a:cs typeface="Calibri" pitchFamily="34" charset="-120"/>
              </a:rPr>
              <a:t>Extremely good at the shape of a correct answer</a:t>
            </a:r>
            <a:endParaRPr lang="en-US" sz="1400" dirty="0"/>
          </a:p>
          <a:p>
            <a:pPr marL="342900" indent="-342900">
              <a:spcAft>
                <a:spcPts val="1000"/>
              </a:spcAft>
              <a:buSzPct val="100000"/>
              <a:buChar char="•"/>
            </a:pPr>
            <a:r>
              <a:rPr lang="en-US" sz="1400" dirty="0">
                <a:solidFill>
                  <a:srgbClr val="3A3A44"/>
                </a:solidFill>
                <a:latin typeface="Calibri" pitchFamily="34" charset="0"/>
                <a:ea typeface="Calibri" pitchFamily="34" charset="-122"/>
                <a:cs typeface="Calibri" pitchFamily="34" charset="-120"/>
              </a:rPr>
              <a:t>Genuinely useful, most of the time</a:t>
            </a:r>
            <a:endParaRPr lang="en-US" sz="1400" dirty="0"/>
          </a:p>
        </p:txBody>
      </p:sp>
      <p:sp>
        <p:nvSpPr>
          <p:cNvPr id="7" name="Shape 4"/>
          <p:cNvSpPr/>
          <p:nvPr/>
        </p:nvSpPr>
        <p:spPr>
          <a:xfrm>
            <a:off x="6263640" y="1554480"/>
            <a:ext cx="5120640" cy="3840480"/>
          </a:xfrm>
          <a:prstGeom prst="roundRect">
            <a:avLst>
              <a:gd name="adj" fmla="val 2143"/>
            </a:avLst>
          </a:prstGeom>
          <a:solidFill>
            <a:srgbClr val="FBF0F4"/>
          </a:solidFill>
          <a:ln w="12700">
            <a:solidFill>
              <a:srgbClr val="DEDAE1"/>
            </a:solidFill>
            <a:prstDash val="solid"/>
          </a:ln>
        </p:spPr>
      </p:sp>
      <p:sp>
        <p:nvSpPr>
          <p:cNvPr id="8" name="Text 5"/>
          <p:cNvSpPr/>
          <p:nvPr/>
        </p:nvSpPr>
        <p:spPr>
          <a:xfrm>
            <a:off x="6583680" y="1783080"/>
            <a:ext cx="4572000" cy="365760"/>
          </a:xfrm>
          <a:prstGeom prst="rect">
            <a:avLst/>
          </a:prstGeom>
          <a:noFill/>
          <a:ln/>
        </p:spPr>
        <p:txBody>
          <a:bodyPr wrap="square" lIns="0" tIns="0" rIns="0" bIns="0" rtlCol="0" anchor="ctr"/>
          <a:lstStyle/>
          <a:p>
            <a:pPr indent="0" marL="0">
              <a:buNone/>
            </a:pPr>
            <a:r>
              <a:rPr lang="en-US" sz="1700" b="1" dirty="0">
                <a:solidFill>
                  <a:srgbClr val="B5446E"/>
                </a:solidFill>
                <a:latin typeface="Cambria" pitchFamily="34" charset="0"/>
                <a:ea typeface="Cambria" pitchFamily="34" charset="-122"/>
                <a:cs typeface="Cambria" pitchFamily="34" charset="-120"/>
              </a:rPr>
              <a:t>What it is NOT doing</a:t>
            </a:r>
            <a:endParaRPr lang="en-US" sz="1700" dirty="0"/>
          </a:p>
        </p:txBody>
      </p:sp>
      <p:sp>
        <p:nvSpPr>
          <p:cNvPr id="9" name="Text 6"/>
          <p:cNvSpPr/>
          <p:nvPr/>
        </p:nvSpPr>
        <p:spPr>
          <a:xfrm>
            <a:off x="6583680" y="2286000"/>
            <a:ext cx="4572000" cy="2926080"/>
          </a:xfrm>
          <a:prstGeom prst="rect">
            <a:avLst/>
          </a:prstGeom>
          <a:noFill/>
          <a:ln/>
        </p:spPr>
        <p:txBody>
          <a:bodyPr wrap="square" lIns="0" tIns="0" rIns="0" bIns="0" rtlCol="0" anchor="ctr"/>
          <a:lstStyle/>
          <a:p>
            <a:pPr marL="342900" indent="-342900">
              <a:spcAft>
                <a:spcPts val="1000"/>
              </a:spcAft>
              <a:buSzPct val="100000"/>
              <a:buChar char="•"/>
            </a:pPr>
            <a:r>
              <a:rPr lang="en-US" sz="1400" dirty="0">
                <a:solidFill>
                  <a:srgbClr val="3A3A44"/>
                </a:solidFill>
                <a:latin typeface="Calibri" pitchFamily="34" charset="0"/>
                <a:ea typeface="Calibri" pitchFamily="34" charset="-122"/>
                <a:cs typeface="Calibri" pitchFamily="34" charset="-120"/>
              </a:rPr>
              <a:t>Running your code</a:t>
            </a:r>
            <a:endParaRPr lang="en-US" sz="1400" dirty="0"/>
          </a:p>
          <a:p>
            <a:pPr marL="342900" indent="-342900">
              <a:spcAft>
                <a:spcPts val="1000"/>
              </a:spcAft>
              <a:buSzPct val="100000"/>
              <a:buChar char="•"/>
            </a:pPr>
            <a:r>
              <a:rPr lang="en-US" sz="1400" dirty="0">
                <a:solidFill>
                  <a:srgbClr val="3A3A44"/>
                </a:solidFill>
                <a:latin typeface="Calibri" pitchFamily="34" charset="0"/>
                <a:ea typeface="Calibri" pitchFamily="34" charset="-122"/>
                <a:cs typeface="Calibri" pitchFamily="34" charset="-120"/>
              </a:rPr>
              <a:t>Looking at your data</a:t>
            </a:r>
            <a:endParaRPr lang="en-US" sz="1400" dirty="0"/>
          </a:p>
          <a:p>
            <a:pPr marL="342900" indent="-342900">
              <a:spcAft>
                <a:spcPts val="1000"/>
              </a:spcAft>
              <a:buSzPct val="100000"/>
              <a:buChar char="•"/>
            </a:pPr>
            <a:r>
              <a:rPr lang="en-US" sz="1400" dirty="0">
                <a:solidFill>
                  <a:srgbClr val="3A3A44"/>
                </a:solidFill>
                <a:latin typeface="Calibri" pitchFamily="34" charset="0"/>
                <a:ea typeface="Calibri" pitchFamily="34" charset="-122"/>
                <a:cs typeface="Calibri" pitchFamily="34" charset="-120"/>
              </a:rPr>
              <a:t>Knowing your study design</a:t>
            </a:r>
            <a:endParaRPr lang="en-US" sz="1400" dirty="0"/>
          </a:p>
          <a:p>
            <a:pPr marL="342900" indent="-342900">
              <a:spcAft>
                <a:spcPts val="1000"/>
              </a:spcAft>
              <a:buSzPct val="100000"/>
              <a:buChar char="•"/>
            </a:pPr>
            <a:r>
              <a:rPr lang="en-US" sz="1400" dirty="0">
                <a:solidFill>
                  <a:srgbClr val="3A3A44"/>
                </a:solidFill>
                <a:latin typeface="Calibri" pitchFamily="34" charset="0"/>
                <a:ea typeface="Calibri" pitchFamily="34" charset="-122"/>
                <a:cs typeface="Calibri" pitchFamily="34" charset="-120"/>
              </a:rPr>
              <a:t>Checking whether the answer is true</a:t>
            </a:r>
            <a:endParaRPr lang="en-US" sz="1400" dirty="0"/>
          </a:p>
        </p:txBody>
      </p:sp>
      <p:sp>
        <p:nvSpPr>
          <p:cNvPr id="10" name="Text 7"/>
          <p:cNvSpPr/>
          <p:nvPr/>
        </p:nvSpPr>
        <p:spPr>
          <a:xfrm>
            <a:off x="777240" y="5577840"/>
            <a:ext cx="10607040" cy="731520"/>
          </a:xfrm>
          <a:prstGeom prst="rect">
            <a:avLst/>
          </a:prstGeom>
          <a:noFill/>
          <a:ln/>
        </p:spPr>
        <p:txBody>
          <a:bodyPr wrap="square" lIns="0" tIns="0" rIns="0" bIns="0" rtlCol="0" anchor="ctr"/>
          <a:lstStyle/>
          <a:p>
            <a:pPr indent="0" marL="0">
              <a:lnSpc>
                <a:spcPts val="2200"/>
              </a:lnSpc>
              <a:buNone/>
            </a:pPr>
            <a:r>
              <a:rPr lang="en-US" sz="1500" i="1" dirty="0">
                <a:solidFill>
                  <a:srgbClr val="1C1B22"/>
                </a:solidFill>
                <a:latin typeface="Calibri" pitchFamily="34" charset="0"/>
                <a:ea typeface="Calibri" pitchFamily="34" charset="-122"/>
                <a:cs typeface="Calibri" pitchFamily="34" charset="-120"/>
              </a:rPr>
              <a:t>So: fast, fluent, confident — and with no idea whether it's right. Exactly like a very well-read first-year grad student who will never, ever say "I don't know."</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10634472" cy="822960"/>
          </a:xfrm>
          <a:prstGeom prst="rect">
            <a:avLst/>
          </a:prstGeom>
          <a:noFill/>
          <a:ln/>
        </p:spPr>
        <p:txBody>
          <a:bodyPr wrap="square" lIns="0" tIns="0" rIns="0" bIns="0" rtlCol="0" anchor="ctr"/>
          <a:lstStyle/>
          <a:p>
            <a:pPr indent="0" marL="0">
              <a:buNone/>
            </a:pPr>
            <a:r>
              <a:rPr lang="en-US" sz="3400" b="1" dirty="0">
                <a:solidFill>
                  <a:srgbClr val="1C1B22"/>
                </a:solidFill>
                <a:latin typeface="Cambria" pitchFamily="34" charset="0"/>
                <a:ea typeface="Cambria" pitchFamily="34" charset="-122"/>
                <a:cs typeface="Cambria" pitchFamily="34" charset="-120"/>
              </a:rPr>
              <a:t>A bad prompt is a wish. A good prompt is a brief.</a:t>
            </a:r>
            <a:endParaRPr lang="en-US" sz="3400" dirty="0"/>
          </a:p>
        </p:txBody>
      </p:sp>
      <p:sp>
        <p:nvSpPr>
          <p:cNvPr id="4" name="Shape 1"/>
          <p:cNvSpPr/>
          <p:nvPr/>
        </p:nvSpPr>
        <p:spPr>
          <a:xfrm>
            <a:off x="777240" y="1600200"/>
            <a:ext cx="10607040" cy="713232"/>
          </a:xfrm>
          <a:prstGeom prst="roundRect">
            <a:avLst>
              <a:gd name="adj" fmla="val 11538"/>
            </a:avLst>
          </a:prstGeom>
          <a:solidFill>
            <a:srgbClr val="FFFFFF"/>
          </a:solidFill>
          <a:ln w="12700">
            <a:solidFill>
              <a:srgbClr val="DEDAE1"/>
            </a:solidFill>
            <a:prstDash val="solid"/>
          </a:ln>
        </p:spPr>
      </p:sp>
      <p:sp>
        <p:nvSpPr>
          <p:cNvPr id="5" name="Shape 2"/>
          <p:cNvSpPr/>
          <p:nvPr/>
        </p:nvSpPr>
        <p:spPr>
          <a:xfrm>
            <a:off x="978408" y="1764792"/>
            <a:ext cx="384048" cy="384048"/>
          </a:xfrm>
          <a:prstGeom prst="ellipse">
            <a:avLst/>
          </a:prstGeom>
          <a:solidFill>
            <a:srgbClr val="B5446E"/>
          </a:solidFill>
          <a:ln/>
        </p:spPr>
      </p:sp>
      <p:sp>
        <p:nvSpPr>
          <p:cNvPr id="6" name="Text 3"/>
          <p:cNvSpPr/>
          <p:nvPr/>
        </p:nvSpPr>
        <p:spPr>
          <a:xfrm>
            <a:off x="978408" y="17647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4"/>
          <p:cNvSpPr/>
          <p:nvPr/>
        </p:nvSpPr>
        <p:spPr>
          <a:xfrm>
            <a:off x="1554480" y="1600200"/>
            <a:ext cx="2377440" cy="713232"/>
          </a:xfrm>
          <a:prstGeom prst="rect">
            <a:avLst/>
          </a:prstGeom>
          <a:noFill/>
          <a:ln/>
        </p:spPr>
        <p:txBody>
          <a:bodyPr wrap="square" lIns="0" tIns="0" rIns="0" bIns="0" rtlCol="0" anchor="ctr"/>
          <a:lstStyle/>
          <a:p>
            <a:pPr indent="0" marL="0">
              <a:buNone/>
            </a:pPr>
            <a:r>
              <a:rPr lang="en-US" sz="1500" b="1" dirty="0">
                <a:solidFill>
                  <a:srgbClr val="1C1B22"/>
                </a:solidFill>
                <a:latin typeface="Calibri" pitchFamily="34" charset="0"/>
                <a:ea typeface="Calibri" pitchFamily="34" charset="-122"/>
                <a:cs typeface="Calibri" pitchFamily="34" charset="-120"/>
              </a:rPr>
              <a:t>Who you are</a:t>
            </a:r>
            <a:endParaRPr lang="en-US" sz="1500" dirty="0"/>
          </a:p>
        </p:txBody>
      </p:sp>
      <p:sp>
        <p:nvSpPr>
          <p:cNvPr id="8" name="Text 5"/>
          <p:cNvSpPr/>
          <p:nvPr/>
        </p:nvSpPr>
        <p:spPr>
          <a:xfrm>
            <a:off x="4023360" y="1600200"/>
            <a:ext cx="7132320" cy="713232"/>
          </a:xfrm>
          <a:prstGeom prst="rect">
            <a:avLst/>
          </a:prstGeom>
          <a:noFill/>
          <a:ln/>
        </p:spPr>
        <p:txBody>
          <a:bodyPr wrap="square" lIns="0" tIns="0" rIns="0" bIns="0" rtlCol="0" anchor="ctr"/>
          <a:lstStyle/>
          <a:p>
            <a:pPr indent="0" marL="0">
              <a:buNone/>
            </a:pPr>
            <a:r>
              <a:rPr lang="en-US" sz="1300" dirty="0">
                <a:solidFill>
                  <a:srgbClr val="3A3A44"/>
                </a:solidFill>
                <a:latin typeface="Courier New" pitchFamily="34" charset="0"/>
                <a:ea typeface="Courier New" pitchFamily="34" charset="-122"/>
                <a:cs typeface="Courier New" pitchFamily="34" charset="-120"/>
              </a:rPr>
              <a:t>"I'm a researcher using R in RStudio. I'm a beginner."</a:t>
            </a:r>
            <a:endParaRPr lang="en-US" sz="1300" dirty="0"/>
          </a:p>
        </p:txBody>
      </p:sp>
      <p:sp>
        <p:nvSpPr>
          <p:cNvPr id="9" name="Shape 6"/>
          <p:cNvSpPr/>
          <p:nvPr/>
        </p:nvSpPr>
        <p:spPr>
          <a:xfrm>
            <a:off x="777240" y="2441448"/>
            <a:ext cx="10607040" cy="713232"/>
          </a:xfrm>
          <a:prstGeom prst="roundRect">
            <a:avLst>
              <a:gd name="adj" fmla="val 11538"/>
            </a:avLst>
          </a:prstGeom>
          <a:solidFill>
            <a:srgbClr val="F4F2F5"/>
          </a:solidFill>
          <a:ln w="12700">
            <a:solidFill>
              <a:srgbClr val="DEDAE1"/>
            </a:solidFill>
            <a:prstDash val="solid"/>
          </a:ln>
        </p:spPr>
      </p:sp>
      <p:sp>
        <p:nvSpPr>
          <p:cNvPr id="10" name="Shape 7"/>
          <p:cNvSpPr/>
          <p:nvPr/>
        </p:nvSpPr>
        <p:spPr>
          <a:xfrm>
            <a:off x="978408" y="2606040"/>
            <a:ext cx="384048" cy="384048"/>
          </a:xfrm>
          <a:prstGeom prst="ellipse">
            <a:avLst/>
          </a:prstGeom>
          <a:solidFill>
            <a:srgbClr val="B5446E"/>
          </a:solidFill>
          <a:ln/>
        </p:spPr>
      </p:sp>
      <p:sp>
        <p:nvSpPr>
          <p:cNvPr id="11" name="Text 8"/>
          <p:cNvSpPr/>
          <p:nvPr/>
        </p:nvSpPr>
        <p:spPr>
          <a:xfrm>
            <a:off x="978408" y="2606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p:cNvSpPr/>
          <p:nvPr/>
        </p:nvSpPr>
        <p:spPr>
          <a:xfrm>
            <a:off x="1554480" y="2441448"/>
            <a:ext cx="2377440" cy="713232"/>
          </a:xfrm>
          <a:prstGeom prst="rect">
            <a:avLst/>
          </a:prstGeom>
          <a:noFill/>
          <a:ln/>
        </p:spPr>
        <p:txBody>
          <a:bodyPr wrap="square" lIns="0" tIns="0" rIns="0" bIns="0" rtlCol="0" anchor="ctr"/>
          <a:lstStyle/>
          <a:p>
            <a:pPr indent="0" marL="0">
              <a:buNone/>
            </a:pPr>
            <a:r>
              <a:rPr lang="en-US" sz="1500" b="1" dirty="0">
                <a:solidFill>
                  <a:srgbClr val="1C1B22"/>
                </a:solidFill>
                <a:latin typeface="Calibri" pitchFamily="34" charset="0"/>
                <a:ea typeface="Calibri" pitchFamily="34" charset="-122"/>
                <a:cs typeface="Calibri" pitchFamily="34" charset="-120"/>
              </a:rPr>
              <a:t>What the data is</a:t>
            </a:r>
            <a:endParaRPr lang="en-US" sz="1500" dirty="0"/>
          </a:p>
        </p:txBody>
      </p:sp>
      <p:sp>
        <p:nvSpPr>
          <p:cNvPr id="13" name="Text 10"/>
          <p:cNvSpPr/>
          <p:nvPr/>
        </p:nvSpPr>
        <p:spPr>
          <a:xfrm>
            <a:off x="4023360" y="2441448"/>
            <a:ext cx="7132320" cy="713232"/>
          </a:xfrm>
          <a:prstGeom prst="rect">
            <a:avLst/>
          </a:prstGeom>
          <a:noFill/>
          <a:ln/>
        </p:spPr>
        <p:txBody>
          <a:bodyPr wrap="square" lIns="0" tIns="0" rIns="0" bIns="0" rtlCol="0" anchor="ctr"/>
          <a:lstStyle/>
          <a:p>
            <a:pPr indent="0" marL="0">
              <a:buNone/>
            </a:pPr>
            <a:r>
              <a:rPr lang="en-US" sz="1300" dirty="0">
                <a:solidFill>
                  <a:srgbClr val="3A3A44"/>
                </a:solidFill>
                <a:latin typeface="Courier New" pitchFamily="34" charset="0"/>
                <a:ea typeface="Courier New" pitchFamily="34" charset="-122"/>
                <a:cs typeface="Courier New" pitchFamily="34" charset="-120"/>
              </a:rPr>
              <a:t>"A CSV at data/x.csv, columns: id, group, age, wab_aq, transcript"</a:t>
            </a:r>
            <a:endParaRPr lang="en-US" sz="1300" dirty="0"/>
          </a:p>
        </p:txBody>
      </p:sp>
      <p:sp>
        <p:nvSpPr>
          <p:cNvPr id="14" name="Shape 11"/>
          <p:cNvSpPr/>
          <p:nvPr/>
        </p:nvSpPr>
        <p:spPr>
          <a:xfrm>
            <a:off x="777240" y="3282696"/>
            <a:ext cx="10607040" cy="713232"/>
          </a:xfrm>
          <a:prstGeom prst="roundRect">
            <a:avLst>
              <a:gd name="adj" fmla="val 11538"/>
            </a:avLst>
          </a:prstGeom>
          <a:solidFill>
            <a:srgbClr val="FFFFFF"/>
          </a:solidFill>
          <a:ln w="12700">
            <a:solidFill>
              <a:srgbClr val="DEDAE1"/>
            </a:solidFill>
            <a:prstDash val="solid"/>
          </a:ln>
        </p:spPr>
      </p:sp>
      <p:sp>
        <p:nvSpPr>
          <p:cNvPr id="15" name="Shape 12"/>
          <p:cNvSpPr/>
          <p:nvPr/>
        </p:nvSpPr>
        <p:spPr>
          <a:xfrm>
            <a:off x="978408" y="3447288"/>
            <a:ext cx="384048" cy="384048"/>
          </a:xfrm>
          <a:prstGeom prst="ellipse">
            <a:avLst/>
          </a:prstGeom>
          <a:solidFill>
            <a:srgbClr val="B5446E"/>
          </a:solidFill>
          <a:ln/>
        </p:spPr>
      </p:sp>
      <p:sp>
        <p:nvSpPr>
          <p:cNvPr id="16" name="Text 13"/>
          <p:cNvSpPr/>
          <p:nvPr/>
        </p:nvSpPr>
        <p:spPr>
          <a:xfrm>
            <a:off x="978408" y="34472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p:nvPr/>
        </p:nvSpPr>
        <p:spPr>
          <a:xfrm>
            <a:off x="1554480" y="3282696"/>
            <a:ext cx="2377440" cy="713232"/>
          </a:xfrm>
          <a:prstGeom prst="rect">
            <a:avLst/>
          </a:prstGeom>
          <a:noFill/>
          <a:ln/>
        </p:spPr>
        <p:txBody>
          <a:bodyPr wrap="square" lIns="0" tIns="0" rIns="0" bIns="0" rtlCol="0" anchor="ctr"/>
          <a:lstStyle/>
          <a:p>
            <a:pPr indent="0" marL="0">
              <a:buNone/>
            </a:pPr>
            <a:r>
              <a:rPr lang="en-US" sz="1500" b="1" dirty="0">
                <a:solidFill>
                  <a:srgbClr val="1C1B22"/>
                </a:solidFill>
                <a:latin typeface="Calibri" pitchFamily="34" charset="0"/>
                <a:ea typeface="Calibri" pitchFamily="34" charset="-122"/>
                <a:cs typeface="Calibri" pitchFamily="34" charset="-120"/>
              </a:rPr>
              <a:t>The ONE task</a:t>
            </a:r>
            <a:endParaRPr lang="en-US" sz="1500" dirty="0"/>
          </a:p>
        </p:txBody>
      </p:sp>
      <p:sp>
        <p:nvSpPr>
          <p:cNvPr id="18" name="Text 15"/>
          <p:cNvSpPr/>
          <p:nvPr/>
        </p:nvSpPr>
        <p:spPr>
          <a:xfrm>
            <a:off x="4023360" y="3282696"/>
            <a:ext cx="7132320" cy="713232"/>
          </a:xfrm>
          <a:prstGeom prst="rect">
            <a:avLst/>
          </a:prstGeom>
          <a:noFill/>
          <a:ln/>
        </p:spPr>
        <p:txBody>
          <a:bodyPr wrap="square" lIns="0" tIns="0" rIns="0" bIns="0" rtlCol="0" anchor="ctr"/>
          <a:lstStyle/>
          <a:p>
            <a:pPr indent="0" marL="0">
              <a:buNone/>
            </a:pPr>
            <a:r>
              <a:rPr lang="en-US" sz="1300" dirty="0">
                <a:solidFill>
                  <a:srgbClr val="3A3A44"/>
                </a:solidFill>
                <a:latin typeface="Courier New" pitchFamily="34" charset="0"/>
                <a:ea typeface="Courier New" pitchFamily="34" charset="-122"/>
                <a:cs typeface="Courier New" pitchFamily="34" charset="-120"/>
              </a:rPr>
              <a:t>"Fit a linear model predicting wab_aq from age."</a:t>
            </a:r>
            <a:endParaRPr lang="en-US" sz="1300" dirty="0"/>
          </a:p>
        </p:txBody>
      </p:sp>
      <p:sp>
        <p:nvSpPr>
          <p:cNvPr id="19" name="Shape 16"/>
          <p:cNvSpPr/>
          <p:nvPr/>
        </p:nvSpPr>
        <p:spPr>
          <a:xfrm>
            <a:off x="777240" y="4123944"/>
            <a:ext cx="10607040" cy="713232"/>
          </a:xfrm>
          <a:prstGeom prst="roundRect">
            <a:avLst>
              <a:gd name="adj" fmla="val 11538"/>
            </a:avLst>
          </a:prstGeom>
          <a:solidFill>
            <a:srgbClr val="F4F2F5"/>
          </a:solidFill>
          <a:ln w="12700">
            <a:solidFill>
              <a:srgbClr val="DEDAE1"/>
            </a:solidFill>
            <a:prstDash val="solid"/>
          </a:ln>
        </p:spPr>
      </p:sp>
      <p:sp>
        <p:nvSpPr>
          <p:cNvPr id="20" name="Shape 17"/>
          <p:cNvSpPr/>
          <p:nvPr/>
        </p:nvSpPr>
        <p:spPr>
          <a:xfrm>
            <a:off x="978408" y="4288536"/>
            <a:ext cx="384048" cy="384048"/>
          </a:xfrm>
          <a:prstGeom prst="ellipse">
            <a:avLst/>
          </a:prstGeom>
          <a:solidFill>
            <a:srgbClr val="B5446E"/>
          </a:solidFill>
          <a:ln/>
        </p:spPr>
      </p:sp>
      <p:sp>
        <p:nvSpPr>
          <p:cNvPr id="21" name="Text 18"/>
          <p:cNvSpPr/>
          <p:nvPr/>
        </p:nvSpPr>
        <p:spPr>
          <a:xfrm>
            <a:off x="978408" y="42885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19"/>
          <p:cNvSpPr/>
          <p:nvPr/>
        </p:nvSpPr>
        <p:spPr>
          <a:xfrm>
            <a:off x="1554480" y="4123944"/>
            <a:ext cx="2377440" cy="713232"/>
          </a:xfrm>
          <a:prstGeom prst="rect">
            <a:avLst/>
          </a:prstGeom>
          <a:noFill/>
          <a:ln/>
        </p:spPr>
        <p:txBody>
          <a:bodyPr wrap="square" lIns="0" tIns="0" rIns="0" bIns="0" rtlCol="0" anchor="ctr"/>
          <a:lstStyle/>
          <a:p>
            <a:pPr indent="0" marL="0">
              <a:buNone/>
            </a:pPr>
            <a:r>
              <a:rPr lang="en-US" sz="1500" b="1" dirty="0">
                <a:solidFill>
                  <a:srgbClr val="1C1B22"/>
                </a:solidFill>
                <a:latin typeface="Calibri" pitchFamily="34" charset="0"/>
                <a:ea typeface="Calibri" pitchFamily="34" charset="-122"/>
                <a:cs typeface="Calibri" pitchFamily="34" charset="-120"/>
              </a:rPr>
              <a:t>The constraints</a:t>
            </a:r>
            <a:endParaRPr lang="en-US" sz="1500" dirty="0"/>
          </a:p>
        </p:txBody>
      </p:sp>
      <p:sp>
        <p:nvSpPr>
          <p:cNvPr id="23" name="Text 20"/>
          <p:cNvSpPr/>
          <p:nvPr/>
        </p:nvSpPr>
        <p:spPr>
          <a:xfrm>
            <a:off x="4023360" y="4123944"/>
            <a:ext cx="7132320" cy="713232"/>
          </a:xfrm>
          <a:prstGeom prst="rect">
            <a:avLst/>
          </a:prstGeom>
          <a:noFill/>
          <a:ln/>
        </p:spPr>
        <p:txBody>
          <a:bodyPr wrap="square" lIns="0" tIns="0" rIns="0" bIns="0" rtlCol="0" anchor="ctr"/>
          <a:lstStyle/>
          <a:p>
            <a:pPr indent="0" marL="0">
              <a:buNone/>
            </a:pPr>
            <a:r>
              <a:rPr lang="en-US" sz="1300" dirty="0">
                <a:solidFill>
                  <a:srgbClr val="3A3A44"/>
                </a:solidFill>
                <a:latin typeface="Courier New" pitchFamily="34" charset="0"/>
                <a:ea typeface="Courier New" pitchFamily="34" charset="-122"/>
                <a:cs typeface="Courier New" pitchFamily="34" charset="-120"/>
              </a:rPr>
              <a:t>"Use dplyr. Don't install anything new."</a:t>
            </a:r>
            <a:endParaRPr lang="en-US" sz="1300" dirty="0"/>
          </a:p>
        </p:txBody>
      </p:sp>
      <p:sp>
        <p:nvSpPr>
          <p:cNvPr id="24" name="Shape 21"/>
          <p:cNvSpPr/>
          <p:nvPr/>
        </p:nvSpPr>
        <p:spPr>
          <a:xfrm>
            <a:off x="777240" y="4965192"/>
            <a:ext cx="10607040" cy="713232"/>
          </a:xfrm>
          <a:prstGeom prst="roundRect">
            <a:avLst>
              <a:gd name="adj" fmla="val 11538"/>
            </a:avLst>
          </a:prstGeom>
          <a:solidFill>
            <a:srgbClr val="FFFFFF"/>
          </a:solidFill>
          <a:ln w="12700">
            <a:solidFill>
              <a:srgbClr val="DEDAE1"/>
            </a:solidFill>
            <a:prstDash val="solid"/>
          </a:ln>
        </p:spPr>
      </p:sp>
      <p:sp>
        <p:nvSpPr>
          <p:cNvPr id="25" name="Shape 22"/>
          <p:cNvSpPr/>
          <p:nvPr/>
        </p:nvSpPr>
        <p:spPr>
          <a:xfrm>
            <a:off x="978408" y="5129784"/>
            <a:ext cx="384048" cy="384048"/>
          </a:xfrm>
          <a:prstGeom prst="ellipse">
            <a:avLst/>
          </a:prstGeom>
          <a:solidFill>
            <a:srgbClr val="B5446E"/>
          </a:solidFill>
          <a:ln/>
        </p:spPr>
      </p:sp>
      <p:sp>
        <p:nvSpPr>
          <p:cNvPr id="26" name="Text 23"/>
          <p:cNvSpPr/>
          <p:nvPr/>
        </p:nvSpPr>
        <p:spPr>
          <a:xfrm>
            <a:off x="978408" y="51297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4"/>
          <p:cNvSpPr/>
          <p:nvPr/>
        </p:nvSpPr>
        <p:spPr>
          <a:xfrm>
            <a:off x="1554480" y="4965192"/>
            <a:ext cx="2377440" cy="713232"/>
          </a:xfrm>
          <a:prstGeom prst="rect">
            <a:avLst/>
          </a:prstGeom>
          <a:noFill/>
          <a:ln/>
        </p:spPr>
        <p:txBody>
          <a:bodyPr wrap="square" lIns="0" tIns="0" rIns="0" bIns="0" rtlCol="0" anchor="ctr"/>
          <a:lstStyle/>
          <a:p>
            <a:pPr indent="0" marL="0">
              <a:buNone/>
            </a:pPr>
            <a:r>
              <a:rPr lang="en-US" sz="1500" b="1" dirty="0">
                <a:solidFill>
                  <a:srgbClr val="1C1B22"/>
                </a:solidFill>
                <a:latin typeface="Calibri" pitchFamily="34" charset="0"/>
                <a:ea typeface="Calibri" pitchFamily="34" charset="-122"/>
                <a:cs typeface="Calibri" pitchFamily="34" charset="-120"/>
              </a:rPr>
              <a:t>The output you want</a:t>
            </a:r>
            <a:endParaRPr lang="en-US" sz="1500" dirty="0"/>
          </a:p>
        </p:txBody>
      </p:sp>
      <p:sp>
        <p:nvSpPr>
          <p:cNvPr id="28" name="Text 25"/>
          <p:cNvSpPr/>
          <p:nvPr/>
        </p:nvSpPr>
        <p:spPr>
          <a:xfrm>
            <a:off x="4023360" y="4965192"/>
            <a:ext cx="7132320" cy="713232"/>
          </a:xfrm>
          <a:prstGeom prst="rect">
            <a:avLst/>
          </a:prstGeom>
          <a:noFill/>
          <a:ln/>
        </p:spPr>
        <p:txBody>
          <a:bodyPr wrap="square" lIns="0" tIns="0" rIns="0" bIns="0" rtlCol="0" anchor="ctr"/>
          <a:lstStyle/>
          <a:p>
            <a:pPr indent="0" marL="0">
              <a:buNone/>
            </a:pPr>
            <a:r>
              <a:rPr lang="en-US" sz="1300" dirty="0">
                <a:solidFill>
                  <a:srgbClr val="3A3A44"/>
                </a:solidFill>
                <a:latin typeface="Courier New" pitchFamily="34" charset="0"/>
                <a:ea typeface="Courier New" pitchFamily="34" charset="-122"/>
                <a:cs typeface="Courier New" pitchFamily="34" charset="-120"/>
              </a:rPr>
              <a:t>"Just the code with short comments. No explanation."</a:t>
            </a:r>
            <a:endParaRPr lang="en-US" sz="1300" dirty="0"/>
          </a:p>
        </p:txBody>
      </p:sp>
      <p:sp>
        <p:nvSpPr>
          <p:cNvPr id="29" name="Text 26"/>
          <p:cNvSpPr/>
          <p:nvPr/>
        </p:nvSpPr>
        <p:spPr>
          <a:xfrm>
            <a:off x="777240" y="5897880"/>
            <a:ext cx="10607040" cy="457200"/>
          </a:xfrm>
          <a:prstGeom prst="rect">
            <a:avLst/>
          </a:prstGeom>
          <a:noFill/>
          <a:ln/>
        </p:spPr>
        <p:txBody>
          <a:bodyPr wrap="square" lIns="0" tIns="0" rIns="0" bIns="0" rtlCol="0" anchor="ctr"/>
          <a:lstStyle/>
          <a:p>
            <a:pPr indent="0" marL="0">
              <a:buNone/>
            </a:pPr>
            <a:r>
              <a:rPr lang="en-US" sz="1400" b="1" dirty="0">
                <a:solidFill>
                  <a:srgbClr val="B5446E"/>
                </a:solidFill>
                <a:latin typeface="Calibri" pitchFamily="34" charset="0"/>
                <a:ea typeface="Calibri" pitchFamily="34" charset="-122"/>
                <a:cs typeface="Calibri" pitchFamily="34" charset="-120"/>
              </a:rPr>
              <a:t>Paste your REAL column names. Every hallucinated variable traces back to an AI guessing at a structure you never showed it.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10634472" cy="822960"/>
          </a:xfrm>
          <a:prstGeom prst="rect">
            <a:avLst/>
          </a:prstGeom>
          <a:noFill/>
          <a:ln/>
        </p:spPr>
        <p:txBody>
          <a:bodyPr wrap="square" lIns="0" tIns="0" rIns="0" bIns="0" rtlCol="0" anchor="ctr"/>
          <a:lstStyle/>
          <a:p>
            <a:pPr indent="0" marL="0">
              <a:buNone/>
            </a:pPr>
            <a:r>
              <a:rPr lang="en-US" sz="3400" b="1" dirty="0">
                <a:solidFill>
                  <a:srgbClr val="1C1B22"/>
                </a:solidFill>
                <a:latin typeface="Cambria" pitchFamily="34" charset="0"/>
                <a:ea typeface="Cambria" pitchFamily="34" charset="-122"/>
                <a:cs typeface="Cambria" pitchFamily="34" charset="-120"/>
              </a:rPr>
              <a:t>The debugging loop is not failure. It's the job.</a:t>
            </a:r>
            <a:endParaRPr lang="en-US" sz="3400" dirty="0"/>
          </a:p>
        </p:txBody>
      </p:sp>
      <p:sp>
        <p:nvSpPr>
          <p:cNvPr id="4" name="Shape 1"/>
          <p:cNvSpPr/>
          <p:nvPr/>
        </p:nvSpPr>
        <p:spPr>
          <a:xfrm>
            <a:off x="777240" y="1645920"/>
            <a:ext cx="3291840" cy="2651760"/>
          </a:xfrm>
          <a:prstGeom prst="roundRect">
            <a:avLst>
              <a:gd name="adj" fmla="val 3103"/>
            </a:avLst>
          </a:prstGeom>
          <a:solidFill>
            <a:srgbClr val="F4F2F5"/>
          </a:solidFill>
          <a:ln w="12700">
            <a:solidFill>
              <a:srgbClr val="DEDAE1"/>
            </a:solidFill>
            <a:prstDash val="solid"/>
          </a:ln>
        </p:spPr>
      </p:sp>
      <p:sp>
        <p:nvSpPr>
          <p:cNvPr id="5" name="Shape 2"/>
          <p:cNvSpPr/>
          <p:nvPr/>
        </p:nvSpPr>
        <p:spPr>
          <a:xfrm>
            <a:off x="1051560" y="1920240"/>
            <a:ext cx="384048" cy="384048"/>
          </a:xfrm>
          <a:prstGeom prst="ellipse">
            <a:avLst/>
          </a:prstGeom>
          <a:solidFill>
            <a:srgbClr val="4C9F70"/>
          </a:solidFill>
          <a:ln/>
        </p:spPr>
      </p:sp>
      <p:sp>
        <p:nvSpPr>
          <p:cNvPr id="6" name="Text 3"/>
          <p:cNvSpPr/>
          <p:nvPr/>
        </p:nvSpPr>
        <p:spPr>
          <a:xfrm>
            <a:off x="1051560" y="1920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4"/>
          <p:cNvSpPr/>
          <p:nvPr/>
        </p:nvSpPr>
        <p:spPr>
          <a:xfrm>
            <a:off x="1051560" y="2423160"/>
            <a:ext cx="2743200" cy="457200"/>
          </a:xfrm>
          <a:prstGeom prst="rect">
            <a:avLst/>
          </a:prstGeom>
          <a:noFill/>
          <a:ln/>
        </p:spPr>
        <p:txBody>
          <a:bodyPr wrap="square" lIns="0" tIns="0" rIns="0" bIns="0" rtlCol="0" anchor="ctr"/>
          <a:lstStyle/>
          <a:p>
            <a:pPr indent="0" marL="0">
              <a:buNone/>
            </a:pPr>
            <a:r>
              <a:rPr lang="en-US" sz="1600" b="1" dirty="0">
                <a:solidFill>
                  <a:srgbClr val="1C1B22"/>
                </a:solidFill>
                <a:latin typeface="Cambria" pitchFamily="34" charset="0"/>
                <a:ea typeface="Cambria" pitchFamily="34" charset="-122"/>
                <a:cs typeface="Cambria" pitchFamily="34" charset="-120"/>
              </a:rPr>
              <a:t>Paste the whole error</a:t>
            </a:r>
            <a:endParaRPr lang="en-US" sz="1600" dirty="0"/>
          </a:p>
        </p:txBody>
      </p:sp>
      <p:sp>
        <p:nvSpPr>
          <p:cNvPr id="8" name="Text 5"/>
          <p:cNvSpPr/>
          <p:nvPr/>
        </p:nvSpPr>
        <p:spPr>
          <a:xfrm>
            <a:off x="1051560" y="2926080"/>
            <a:ext cx="2743200" cy="1188720"/>
          </a:xfrm>
          <a:prstGeom prst="rect">
            <a:avLst/>
          </a:prstGeom>
          <a:noFill/>
          <a:ln/>
        </p:spPr>
        <p:txBody>
          <a:bodyPr wrap="square" lIns="0" tIns="0" rIns="0" bIns="0" rtlCol="0" anchor="ctr"/>
          <a:lstStyle/>
          <a:p>
            <a:pPr indent="0" marL="0">
              <a:lnSpc>
                <a:spcPts val="1800"/>
              </a:lnSpc>
              <a:buNone/>
            </a:pPr>
            <a:r>
              <a:rPr lang="en-US" sz="1300" dirty="0">
                <a:solidFill>
                  <a:srgbClr val="3A3A44"/>
                </a:solidFill>
                <a:latin typeface="Calibri" pitchFamily="34" charset="0"/>
                <a:ea typeface="Calibri" pitchFamily="34" charset="-122"/>
                <a:cs typeface="Calibri" pitchFamily="34" charset="-120"/>
              </a:rPr>
              <a:t>All of it. The traceback, the line numbers, the warning you skipped. Not your summary of it.</a:t>
            </a:r>
            <a:endParaRPr lang="en-US" sz="1300" dirty="0"/>
          </a:p>
        </p:txBody>
      </p:sp>
      <p:sp>
        <p:nvSpPr>
          <p:cNvPr id="9" name="Shape 6"/>
          <p:cNvSpPr/>
          <p:nvPr/>
        </p:nvSpPr>
        <p:spPr>
          <a:xfrm>
            <a:off x="4434840" y="1645920"/>
            <a:ext cx="3291840" cy="2651760"/>
          </a:xfrm>
          <a:prstGeom prst="roundRect">
            <a:avLst>
              <a:gd name="adj" fmla="val 3103"/>
            </a:avLst>
          </a:prstGeom>
          <a:solidFill>
            <a:srgbClr val="F4F2F5"/>
          </a:solidFill>
          <a:ln w="12700">
            <a:solidFill>
              <a:srgbClr val="DEDAE1"/>
            </a:solidFill>
            <a:prstDash val="solid"/>
          </a:ln>
        </p:spPr>
      </p:sp>
      <p:sp>
        <p:nvSpPr>
          <p:cNvPr id="10" name="Shape 7"/>
          <p:cNvSpPr/>
          <p:nvPr/>
        </p:nvSpPr>
        <p:spPr>
          <a:xfrm>
            <a:off x="4709160" y="1920240"/>
            <a:ext cx="384048" cy="384048"/>
          </a:xfrm>
          <a:prstGeom prst="ellipse">
            <a:avLst/>
          </a:prstGeom>
          <a:solidFill>
            <a:srgbClr val="4C9F70"/>
          </a:solidFill>
          <a:ln/>
        </p:spPr>
      </p:sp>
      <p:sp>
        <p:nvSpPr>
          <p:cNvPr id="11" name="Text 8"/>
          <p:cNvSpPr/>
          <p:nvPr/>
        </p:nvSpPr>
        <p:spPr>
          <a:xfrm>
            <a:off x="4709160" y="1920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p:cNvSpPr/>
          <p:nvPr/>
        </p:nvSpPr>
        <p:spPr>
          <a:xfrm>
            <a:off x="4709160" y="2423160"/>
            <a:ext cx="2743200" cy="457200"/>
          </a:xfrm>
          <a:prstGeom prst="rect">
            <a:avLst/>
          </a:prstGeom>
          <a:noFill/>
          <a:ln/>
        </p:spPr>
        <p:txBody>
          <a:bodyPr wrap="square" lIns="0" tIns="0" rIns="0" bIns="0" rtlCol="0" anchor="ctr"/>
          <a:lstStyle/>
          <a:p>
            <a:pPr indent="0" marL="0">
              <a:buNone/>
            </a:pPr>
            <a:r>
              <a:rPr lang="en-US" sz="1600" b="1" dirty="0">
                <a:solidFill>
                  <a:srgbClr val="1C1B22"/>
                </a:solidFill>
                <a:latin typeface="Cambria" pitchFamily="34" charset="0"/>
                <a:ea typeface="Cambria" pitchFamily="34" charset="-122"/>
                <a:cs typeface="Cambria" pitchFamily="34" charset="-120"/>
              </a:rPr>
              <a:t>Paste the whole code</a:t>
            </a:r>
            <a:endParaRPr lang="en-US" sz="1600" dirty="0"/>
          </a:p>
        </p:txBody>
      </p:sp>
      <p:sp>
        <p:nvSpPr>
          <p:cNvPr id="13" name="Text 10"/>
          <p:cNvSpPr/>
          <p:nvPr/>
        </p:nvSpPr>
        <p:spPr>
          <a:xfrm>
            <a:off x="4709160" y="2926080"/>
            <a:ext cx="2743200" cy="1188720"/>
          </a:xfrm>
          <a:prstGeom prst="rect">
            <a:avLst/>
          </a:prstGeom>
          <a:noFill/>
          <a:ln/>
        </p:spPr>
        <p:txBody>
          <a:bodyPr wrap="square" lIns="0" tIns="0" rIns="0" bIns="0" rtlCol="0" anchor="ctr"/>
          <a:lstStyle/>
          <a:p>
            <a:pPr indent="0" marL="0">
              <a:lnSpc>
                <a:spcPts val="1800"/>
              </a:lnSpc>
              <a:buNone/>
            </a:pPr>
            <a:r>
              <a:rPr lang="en-US" sz="1300" dirty="0">
                <a:solidFill>
                  <a:srgbClr val="3A3A44"/>
                </a:solidFill>
                <a:latin typeface="Calibri" pitchFamily="34" charset="0"/>
                <a:ea typeface="Calibri" pitchFamily="34" charset="-122"/>
                <a:cs typeface="Calibri" pitchFamily="34" charset="-120"/>
              </a:rPr>
              <a:t>Not the line you think is broken. The block. It cannot see your screen.</a:t>
            </a:r>
            <a:endParaRPr lang="en-US" sz="1300" dirty="0"/>
          </a:p>
        </p:txBody>
      </p:sp>
      <p:sp>
        <p:nvSpPr>
          <p:cNvPr id="14" name="Shape 11"/>
          <p:cNvSpPr/>
          <p:nvPr/>
        </p:nvSpPr>
        <p:spPr>
          <a:xfrm>
            <a:off x="8092440" y="1645920"/>
            <a:ext cx="3291840" cy="2651760"/>
          </a:xfrm>
          <a:prstGeom prst="roundRect">
            <a:avLst>
              <a:gd name="adj" fmla="val 3103"/>
            </a:avLst>
          </a:prstGeom>
          <a:solidFill>
            <a:srgbClr val="F4F2F5"/>
          </a:solidFill>
          <a:ln w="12700">
            <a:solidFill>
              <a:srgbClr val="DEDAE1"/>
            </a:solidFill>
            <a:prstDash val="solid"/>
          </a:ln>
        </p:spPr>
      </p:sp>
      <p:sp>
        <p:nvSpPr>
          <p:cNvPr id="15" name="Shape 12"/>
          <p:cNvSpPr/>
          <p:nvPr/>
        </p:nvSpPr>
        <p:spPr>
          <a:xfrm>
            <a:off x="8366760" y="1920240"/>
            <a:ext cx="384048" cy="384048"/>
          </a:xfrm>
          <a:prstGeom prst="ellipse">
            <a:avLst/>
          </a:prstGeom>
          <a:solidFill>
            <a:srgbClr val="4C9F70"/>
          </a:solidFill>
          <a:ln/>
        </p:spPr>
      </p:sp>
      <p:sp>
        <p:nvSpPr>
          <p:cNvPr id="16" name="Text 13"/>
          <p:cNvSpPr/>
          <p:nvPr/>
        </p:nvSpPr>
        <p:spPr>
          <a:xfrm>
            <a:off x="8366760" y="1920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p:nvPr/>
        </p:nvSpPr>
        <p:spPr>
          <a:xfrm>
            <a:off x="8366760" y="2423160"/>
            <a:ext cx="2743200" cy="457200"/>
          </a:xfrm>
          <a:prstGeom prst="rect">
            <a:avLst/>
          </a:prstGeom>
          <a:noFill/>
          <a:ln/>
        </p:spPr>
        <p:txBody>
          <a:bodyPr wrap="square" lIns="0" tIns="0" rIns="0" bIns="0" rtlCol="0" anchor="ctr"/>
          <a:lstStyle/>
          <a:p>
            <a:pPr indent="0" marL="0">
              <a:buNone/>
            </a:pPr>
            <a:r>
              <a:rPr lang="en-US" sz="1600" b="1" dirty="0">
                <a:solidFill>
                  <a:srgbClr val="1C1B22"/>
                </a:solidFill>
                <a:latin typeface="Cambria" pitchFamily="34" charset="0"/>
                <a:ea typeface="Cambria" pitchFamily="34" charset="-122"/>
                <a:cs typeface="Cambria" pitchFamily="34" charset="-120"/>
              </a:rPr>
              <a:t>Say what you're running</a:t>
            </a:r>
            <a:endParaRPr lang="en-US" sz="1600" dirty="0"/>
          </a:p>
        </p:txBody>
      </p:sp>
      <p:sp>
        <p:nvSpPr>
          <p:cNvPr id="18" name="Text 15"/>
          <p:cNvSpPr/>
          <p:nvPr/>
        </p:nvSpPr>
        <p:spPr>
          <a:xfrm>
            <a:off x="8366760" y="2926080"/>
            <a:ext cx="2743200" cy="1188720"/>
          </a:xfrm>
          <a:prstGeom prst="rect">
            <a:avLst/>
          </a:prstGeom>
          <a:noFill/>
          <a:ln/>
        </p:spPr>
        <p:txBody>
          <a:bodyPr wrap="square" lIns="0" tIns="0" rIns="0" bIns="0" rtlCol="0" anchor="ctr"/>
          <a:lstStyle/>
          <a:p>
            <a:pPr indent="0" marL="0">
              <a:lnSpc>
                <a:spcPts val="1800"/>
              </a:lnSpc>
              <a:buNone/>
            </a:pPr>
            <a:r>
              <a:rPr lang="en-US" sz="1300" dirty="0">
                <a:solidFill>
                  <a:srgbClr val="3A3A44"/>
                </a:solidFill>
                <a:latin typeface="Calibri" pitchFamily="34" charset="0"/>
                <a:ea typeface="Calibri" pitchFamily="34" charset="-122"/>
                <a:cs typeface="Calibri" pitchFamily="34" charset="-120"/>
              </a:rPr>
              <a:t>"R 4.4, tidyverse 2.0." Half of all errors are version errors.</a:t>
            </a:r>
            <a:endParaRPr lang="en-US" sz="1300" dirty="0"/>
          </a:p>
        </p:txBody>
      </p:sp>
      <p:sp>
        <p:nvSpPr>
          <p:cNvPr id="19" name="Shape 16"/>
          <p:cNvSpPr/>
          <p:nvPr/>
        </p:nvSpPr>
        <p:spPr>
          <a:xfrm>
            <a:off x="777240" y="4663440"/>
            <a:ext cx="10607040" cy="1417320"/>
          </a:xfrm>
          <a:prstGeom prst="roundRect">
            <a:avLst>
              <a:gd name="adj" fmla="val 5806"/>
            </a:avLst>
          </a:prstGeom>
          <a:solidFill>
            <a:srgbClr val="FDF6EC"/>
          </a:solidFill>
          <a:ln w="12700">
            <a:solidFill>
              <a:srgbClr val="DEDAE1"/>
            </a:solidFill>
            <a:prstDash val="solid"/>
          </a:ln>
        </p:spPr>
      </p:sp>
      <p:sp>
        <p:nvSpPr>
          <p:cNvPr id="20" name="Text 17"/>
          <p:cNvSpPr/>
          <p:nvPr/>
        </p:nvSpPr>
        <p:spPr>
          <a:xfrm>
            <a:off x="1143000" y="4800600"/>
            <a:ext cx="4572000" cy="365760"/>
          </a:xfrm>
          <a:prstGeom prst="rect">
            <a:avLst/>
          </a:prstGeom>
          <a:noFill/>
          <a:ln/>
        </p:spPr>
        <p:txBody>
          <a:bodyPr wrap="square" lIns="0" tIns="0" rIns="0" bIns="0" rtlCol="0" anchor="ctr"/>
          <a:lstStyle/>
          <a:p>
            <a:pPr indent="0" marL="0">
              <a:buNone/>
            </a:pPr>
            <a:r>
              <a:rPr lang="en-US" sz="1600" b="1" dirty="0">
                <a:solidFill>
                  <a:srgbClr val="D98C2B"/>
                </a:solidFill>
                <a:latin typeface="Cambria" pitchFamily="34" charset="0"/>
                <a:ea typeface="Cambria" pitchFamily="34" charset="-122"/>
                <a:cs typeface="Cambria" pitchFamily="34" charset="-120"/>
              </a:rPr>
              <a:t>The three-strikes rule</a:t>
            </a:r>
            <a:endParaRPr lang="en-US" sz="1600" dirty="0"/>
          </a:p>
        </p:txBody>
      </p:sp>
      <p:sp>
        <p:nvSpPr>
          <p:cNvPr id="21" name="Text 18"/>
          <p:cNvSpPr/>
          <p:nvPr/>
        </p:nvSpPr>
        <p:spPr>
          <a:xfrm>
            <a:off x="1143000" y="5212080"/>
            <a:ext cx="9875520" cy="731520"/>
          </a:xfrm>
          <a:prstGeom prst="rect">
            <a:avLst/>
          </a:prstGeom>
          <a:noFill/>
          <a:ln/>
        </p:spPr>
        <p:txBody>
          <a:bodyPr wrap="square" lIns="0" tIns="0" rIns="0" bIns="0" rtlCol="0" anchor="ctr"/>
          <a:lstStyle/>
          <a:p>
            <a:pPr indent="0" marL="0">
              <a:lnSpc>
                <a:spcPts val="2000"/>
              </a:lnSpc>
              <a:buNone/>
            </a:pPr>
            <a:r>
              <a:rPr lang="en-US" sz="1400" dirty="0">
                <a:solidFill>
                  <a:srgbClr val="3A3A44"/>
                </a:solidFill>
                <a:latin typeface="Calibri" pitchFamily="34" charset="0"/>
                <a:ea typeface="Calibri" pitchFamily="34" charset="-122"/>
                <a:cs typeface="Calibri" pitchFamily="34" charset="-120"/>
              </a:rPr>
              <a:t>Three failures on the same error means it's stuck in a groove. Open a NEW chat. Describe the goal from scratch. Do not paste the failed attempts. Fresh context beats more argument.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C1B22"/>
        </a:solidFill>
      </p:bgPr>
    </p:bg>
    <p:spTree>
      <p:nvGrpSpPr>
        <p:cNvPr id="1" name=""/>
        <p:cNvGrpSpPr/>
        <p:nvPr/>
      </p:nvGrpSpPr>
      <p:grpSpPr>
        <a:xfrm>
          <a:off x="0" y="0"/>
          <a:ext cx="0" cy="0"/>
          <a:chOff x="0" y="0"/>
          <a:chExt cx="0" cy="0"/>
        </a:xfrm>
      </p:grpSpPr>
      <p:sp>
        <p:nvSpPr>
          <p:cNvPr id="2" name="Text 0"/>
          <p:cNvSpPr/>
          <p:nvPr/>
        </p:nvSpPr>
        <p:spPr>
          <a:xfrm>
            <a:off x="777240" y="2286000"/>
            <a:ext cx="10634472" cy="137160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Live demo</a:t>
            </a:r>
            <a:endParaRPr lang="en-US" sz="4600" dirty="0"/>
          </a:p>
        </p:txBody>
      </p:sp>
      <p:sp>
        <p:nvSpPr>
          <p:cNvPr id="3" name="Text 1"/>
          <p:cNvSpPr/>
          <p:nvPr/>
        </p:nvSpPr>
        <p:spPr>
          <a:xfrm>
            <a:off x="777240" y="3657600"/>
            <a:ext cx="10634472" cy="1463040"/>
          </a:xfrm>
          <a:prstGeom prst="rect">
            <a:avLst/>
          </a:prstGeom>
          <a:noFill/>
          <a:ln/>
        </p:spPr>
        <p:txBody>
          <a:bodyPr wrap="square" rtlCol="0" anchor="ctr"/>
          <a:lstStyle/>
          <a:p>
            <a:pPr indent="0" marL="0">
              <a:lnSpc>
                <a:spcPts val="3000"/>
              </a:lnSpc>
              <a:buNone/>
            </a:pPr>
            <a:r>
              <a:rPr lang="en-US" sz="2000" dirty="0">
                <a:solidFill>
                  <a:srgbClr val="C8C2CE"/>
                </a:solidFill>
                <a:latin typeface="Calibri" pitchFamily="34" charset="0"/>
                <a:ea typeface="Calibri" pitchFamily="34" charset="-122"/>
                <a:cs typeface="Calibri" pitchFamily="34" charset="-120"/>
              </a:rPr>
              <a:t>1.  "write me some code to analyse my data"</a:t>
            </a:r>
            <a:endParaRPr lang="en-US" sz="2000" dirty="0"/>
          </a:p>
          <a:p>
            <a:pPr indent="0" marL="0">
              <a:lnSpc>
                <a:spcPts val="3000"/>
              </a:lnSpc>
              <a:buNone/>
            </a:pPr>
            <a:endParaRPr lang="en-US" sz="2000" dirty="0"/>
          </a:p>
          <a:p>
            <a:pPr indent="0" marL="0">
              <a:lnSpc>
                <a:spcPts val="3000"/>
              </a:lnSpc>
              <a:buNone/>
            </a:pPr>
            <a:r>
              <a:rPr lang="en-US" sz="2000" dirty="0">
                <a:solidFill>
                  <a:srgbClr val="C8C2CE"/>
                </a:solidFill>
                <a:latin typeface="Calibri" pitchFamily="34" charset="0"/>
                <a:ea typeface="Calibri" pitchFamily="34" charset="-122"/>
                <a:cs typeface="Calibri" pitchFamily="34" charset="-120"/>
              </a:rPr>
              <a:t>2.  "I have 30 patients measured twice. Did they improve? Give me the R code."</a:t>
            </a:r>
            <a:endParaRPr lang="en-US" sz="2000" dirty="0"/>
          </a:p>
          <a:p>
            <a:pPr indent="0" marL="0">
              <a:lnSpc>
                <a:spcPts val="3000"/>
              </a:lnSpc>
              <a:buNone/>
            </a:pPr>
            <a:endParaRPr lang="en-US" sz="2000" dirty="0"/>
          </a:p>
          <a:p>
            <a:pPr indent="0" marL="0">
              <a:lnSpc>
                <a:spcPts val="3000"/>
              </a:lnSpc>
              <a:buNone/>
            </a:pPr>
            <a:r>
              <a:rPr lang="en-US" sz="2000" dirty="0">
                <a:solidFill>
                  <a:srgbClr val="C8C2CE"/>
                </a:solidFill>
                <a:latin typeface="Calibri" pitchFamily="34" charset="0"/>
                <a:ea typeface="Calibri" pitchFamily="34" charset="-122"/>
                <a:cs typeface="Calibri" pitchFamily="34" charset="-120"/>
              </a:rPr>
              <a:t>Then ask it:  "Are you sure? What are you assuming about independence?"</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C1B22"/>
        </a:solidFill>
      </p:bgPr>
    </p:bg>
    <p:spTree>
      <p:nvGrpSpPr>
        <p:cNvPr id="1" name=""/>
        <p:cNvGrpSpPr/>
        <p:nvPr/>
      </p:nvGrpSpPr>
      <p:grpSpPr>
        <a:xfrm>
          <a:off x="0" y="0"/>
          <a:ext cx="0" cy="0"/>
          <a:chOff x="0" y="0"/>
          <a:chExt cx="0" cy="0"/>
        </a:xfrm>
      </p:grpSpPr>
      <p:sp>
        <p:nvSpPr>
          <p:cNvPr id="2" name="Text 0"/>
          <p:cNvSpPr/>
          <p:nvPr/>
        </p:nvSpPr>
        <p:spPr>
          <a:xfrm>
            <a:off x="777240" y="2286000"/>
            <a:ext cx="10634472" cy="137160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Part 1 — Python</a:t>
            </a:r>
            <a:endParaRPr lang="en-US" sz="4600" dirty="0"/>
          </a:p>
        </p:txBody>
      </p:sp>
      <p:sp>
        <p:nvSpPr>
          <p:cNvPr id="3" name="Text 1"/>
          <p:cNvSpPr/>
          <p:nvPr/>
        </p:nvSpPr>
        <p:spPr>
          <a:xfrm>
            <a:off x="777240" y="3657600"/>
            <a:ext cx="10634472" cy="1463040"/>
          </a:xfrm>
          <a:prstGeom prst="rect">
            <a:avLst/>
          </a:prstGeom>
          <a:noFill/>
          <a:ln/>
        </p:spPr>
        <p:txBody>
          <a:bodyPr wrap="square" rtlCol="0" anchor="ctr"/>
          <a:lstStyle/>
          <a:p>
            <a:pPr indent="0" marL="0">
              <a:lnSpc>
                <a:spcPts val="3000"/>
              </a:lnSpc>
              <a:buNone/>
            </a:pPr>
            <a:r>
              <a:rPr lang="en-US" sz="2000" dirty="0">
                <a:solidFill>
                  <a:srgbClr val="C8C2CE"/>
                </a:solidFill>
                <a:latin typeface="Calibri" pitchFamily="34" charset="0"/>
                <a:ea typeface="Calibri" pitchFamily="34" charset="-122"/>
                <a:cs typeface="Calibri" pitchFamily="34" charset="-120"/>
              </a:rPr>
              <a:t>Turning transcripts into numbers</a:t>
            </a:r>
            <a:endParaRPr lang="en-US" sz="2000" dirty="0"/>
          </a:p>
          <a:p>
            <a:pPr indent="0" marL="0">
              <a:lnSpc>
                <a:spcPts val="3000"/>
              </a:lnSpc>
              <a:buNone/>
            </a:pPr>
            <a:endParaRPr lang="en-US" sz="2000" dirty="0"/>
          </a:p>
          <a:p>
            <a:pPr indent="0" marL="0">
              <a:lnSpc>
                <a:spcPts val="3000"/>
              </a:lnSpc>
              <a:buNone/>
            </a:pPr>
            <a:r>
              <a:rPr lang="en-US" sz="2000" dirty="0">
                <a:solidFill>
                  <a:srgbClr val="C8C2CE"/>
                </a:solidFill>
                <a:latin typeface="Calibri" pitchFamily="34" charset="0"/>
                <a:ea typeface="Calibri" pitchFamily="34" charset="-122"/>
                <a:cs typeface="Calibri" pitchFamily="34" charset="-120"/>
              </a:rPr>
              <a:t>45 minutes  ·  01_python_starter.ipynb</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10634472" cy="822960"/>
          </a:xfrm>
          <a:prstGeom prst="rect">
            <a:avLst/>
          </a:prstGeom>
          <a:noFill/>
          <a:ln/>
        </p:spPr>
        <p:txBody>
          <a:bodyPr wrap="square" lIns="0" tIns="0" rIns="0" bIns="0" rtlCol="0" anchor="ctr"/>
          <a:lstStyle/>
          <a:p>
            <a:pPr indent="0" marL="0">
              <a:buNone/>
            </a:pPr>
            <a:r>
              <a:rPr lang="en-US" sz="3400" b="1" dirty="0">
                <a:solidFill>
                  <a:srgbClr val="1C1B22"/>
                </a:solidFill>
                <a:latin typeface="Cambria" pitchFamily="34" charset="0"/>
                <a:ea typeface="Cambria" pitchFamily="34" charset="-122"/>
                <a:cs typeface="Cambria" pitchFamily="34" charset="-120"/>
              </a:rPr>
              <a:t>The pipeline you're about to build</a:t>
            </a:r>
            <a:endParaRPr lang="en-US" sz="3400" dirty="0"/>
          </a:p>
        </p:txBody>
      </p:sp>
      <p:sp>
        <p:nvSpPr>
          <p:cNvPr id="4" name="Shape 1"/>
          <p:cNvSpPr/>
          <p:nvPr/>
        </p:nvSpPr>
        <p:spPr>
          <a:xfrm>
            <a:off x="502920" y="2286000"/>
            <a:ext cx="1965960" cy="1554480"/>
          </a:xfrm>
          <a:prstGeom prst="roundRect">
            <a:avLst>
              <a:gd name="adj" fmla="val 5294"/>
            </a:avLst>
          </a:prstGeom>
          <a:solidFill>
            <a:srgbClr val="F4F2F5"/>
          </a:solidFill>
          <a:ln w="12700">
            <a:solidFill>
              <a:srgbClr val="DEDAE1"/>
            </a:solidFill>
            <a:prstDash val="solid"/>
          </a:ln>
        </p:spPr>
      </p:sp>
      <p:sp>
        <p:nvSpPr>
          <p:cNvPr id="5" name="Text 2"/>
          <p:cNvSpPr/>
          <p:nvPr/>
        </p:nvSpPr>
        <p:spPr>
          <a:xfrm>
            <a:off x="502920" y="2468880"/>
            <a:ext cx="1965960" cy="365760"/>
          </a:xfrm>
          <a:prstGeom prst="rect">
            <a:avLst/>
          </a:prstGeom>
          <a:noFill/>
          <a:ln/>
        </p:spPr>
        <p:txBody>
          <a:bodyPr wrap="square" lIns="0" tIns="0" rIns="0" bIns="0" rtlCol="0" anchor="ctr"/>
          <a:lstStyle/>
          <a:p>
            <a:pPr algn="ctr" indent="0" marL="0">
              <a:buNone/>
            </a:pPr>
            <a:r>
              <a:rPr lang="en-US" sz="1500" b="1" dirty="0">
                <a:solidFill>
                  <a:srgbClr val="6B6B76"/>
                </a:solidFill>
                <a:latin typeface="Cambria" pitchFamily="34" charset="0"/>
                <a:ea typeface="Cambria" pitchFamily="34" charset="-122"/>
                <a:cs typeface="Cambria" pitchFamily="34" charset="-120"/>
              </a:rPr>
              <a:t>Transcript</a:t>
            </a:r>
            <a:endParaRPr lang="en-US" sz="1500" dirty="0"/>
          </a:p>
        </p:txBody>
      </p:sp>
      <p:sp>
        <p:nvSpPr>
          <p:cNvPr id="6" name="Text 3"/>
          <p:cNvSpPr/>
          <p:nvPr/>
        </p:nvSpPr>
        <p:spPr>
          <a:xfrm>
            <a:off x="502920" y="2880360"/>
            <a:ext cx="1965960" cy="640080"/>
          </a:xfrm>
          <a:prstGeom prst="rect">
            <a:avLst/>
          </a:prstGeom>
          <a:noFill/>
          <a:ln/>
        </p:spPr>
        <p:txBody>
          <a:bodyPr wrap="square" lIns="0" tIns="0" rIns="0" bIns="0" rtlCol="0" anchor="ctr"/>
          <a:lstStyle/>
          <a:p>
            <a:pPr algn="ctr" indent="0" marL="0">
              <a:buNone/>
            </a:pPr>
            <a:r>
              <a:rPr lang="en-US" sz="1200" dirty="0">
                <a:solidFill>
                  <a:srgbClr val="6B6B76"/>
                </a:solidFill>
                <a:latin typeface="Courier New" pitchFamily="34" charset="0"/>
                <a:ea typeface="Courier New" pitchFamily="34" charset="-122"/>
                <a:cs typeface="Courier New" pitchFamily="34" charset="-120"/>
              </a:rPr>
              <a:t>raw text</a:t>
            </a:r>
            <a:endParaRPr lang="en-US" sz="1200" dirty="0"/>
          </a:p>
        </p:txBody>
      </p:sp>
      <p:sp>
        <p:nvSpPr>
          <p:cNvPr id="7" name="Shape 4"/>
          <p:cNvSpPr/>
          <p:nvPr/>
        </p:nvSpPr>
        <p:spPr>
          <a:xfrm>
            <a:off x="2532888" y="2926080"/>
            <a:ext cx="219456" cy="256032"/>
          </a:xfrm>
          <a:prstGeom prst="rightArrow">
            <a:avLst/>
          </a:prstGeom>
          <a:solidFill>
            <a:srgbClr val="DEDAE1"/>
          </a:solidFill>
          <a:ln/>
        </p:spPr>
      </p:sp>
      <p:sp>
        <p:nvSpPr>
          <p:cNvPr id="8" name="Shape 5"/>
          <p:cNvSpPr/>
          <p:nvPr/>
        </p:nvSpPr>
        <p:spPr>
          <a:xfrm>
            <a:off x="2807208" y="2286000"/>
            <a:ext cx="1965960" cy="1554480"/>
          </a:xfrm>
          <a:prstGeom prst="roundRect">
            <a:avLst>
              <a:gd name="adj" fmla="val 5294"/>
            </a:avLst>
          </a:prstGeom>
          <a:solidFill>
            <a:srgbClr val="F4F2F5"/>
          </a:solidFill>
          <a:ln w="12700">
            <a:solidFill>
              <a:srgbClr val="DEDAE1"/>
            </a:solidFill>
            <a:prstDash val="solid"/>
          </a:ln>
        </p:spPr>
      </p:sp>
      <p:sp>
        <p:nvSpPr>
          <p:cNvPr id="9" name="Text 6"/>
          <p:cNvSpPr/>
          <p:nvPr/>
        </p:nvSpPr>
        <p:spPr>
          <a:xfrm>
            <a:off x="2807208" y="2468880"/>
            <a:ext cx="1965960" cy="365760"/>
          </a:xfrm>
          <a:prstGeom prst="rect">
            <a:avLst/>
          </a:prstGeom>
          <a:noFill/>
          <a:ln/>
        </p:spPr>
        <p:txBody>
          <a:bodyPr wrap="square" lIns="0" tIns="0" rIns="0" bIns="0" rtlCol="0" anchor="ctr"/>
          <a:lstStyle/>
          <a:p>
            <a:pPr algn="ctr" indent="0" marL="0">
              <a:buNone/>
            </a:pPr>
            <a:r>
              <a:rPr lang="en-US" sz="1500" b="1" dirty="0">
                <a:solidFill>
                  <a:srgbClr val="4C9F70"/>
                </a:solidFill>
                <a:latin typeface="Cambria" pitchFamily="34" charset="0"/>
                <a:ea typeface="Cambria" pitchFamily="34" charset="-122"/>
                <a:cs typeface="Cambria" pitchFamily="34" charset="-120"/>
              </a:rPr>
              <a:t>Word counts</a:t>
            </a:r>
            <a:endParaRPr lang="en-US" sz="1500" dirty="0"/>
          </a:p>
        </p:txBody>
      </p:sp>
      <p:sp>
        <p:nvSpPr>
          <p:cNvPr id="10" name="Text 7"/>
          <p:cNvSpPr/>
          <p:nvPr/>
        </p:nvSpPr>
        <p:spPr>
          <a:xfrm>
            <a:off x="2807208" y="2880360"/>
            <a:ext cx="1965960" cy="640080"/>
          </a:xfrm>
          <a:prstGeom prst="rect">
            <a:avLst/>
          </a:prstGeom>
          <a:noFill/>
          <a:ln/>
        </p:spPr>
        <p:txBody>
          <a:bodyPr wrap="square" lIns="0" tIns="0" rIns="0" bIns="0" rtlCol="0" anchor="ctr"/>
          <a:lstStyle/>
          <a:p>
            <a:pPr algn="ctr" indent="0" marL="0">
              <a:buNone/>
            </a:pPr>
            <a:r>
              <a:rPr lang="en-US" sz="1200" dirty="0">
                <a:solidFill>
                  <a:srgbClr val="6B6B76"/>
                </a:solidFill>
                <a:latin typeface="Courier New" pitchFamily="34" charset="0"/>
                <a:ea typeface="Courier New" pitchFamily="34" charset="-122"/>
                <a:cs typeface="Courier New" pitchFamily="34" charset="-120"/>
              </a:rPr>
              <a:t>n_words, TTR</a:t>
            </a:r>
            <a:endParaRPr lang="en-US" sz="1200" dirty="0"/>
          </a:p>
        </p:txBody>
      </p:sp>
      <p:sp>
        <p:nvSpPr>
          <p:cNvPr id="11" name="Shape 8"/>
          <p:cNvSpPr/>
          <p:nvPr/>
        </p:nvSpPr>
        <p:spPr>
          <a:xfrm>
            <a:off x="4837176" y="2926080"/>
            <a:ext cx="219456" cy="256032"/>
          </a:xfrm>
          <a:prstGeom prst="rightArrow">
            <a:avLst/>
          </a:prstGeom>
          <a:solidFill>
            <a:srgbClr val="DEDAE1"/>
          </a:solidFill>
          <a:ln/>
        </p:spPr>
      </p:sp>
      <p:sp>
        <p:nvSpPr>
          <p:cNvPr id="12" name="Shape 9"/>
          <p:cNvSpPr/>
          <p:nvPr/>
        </p:nvSpPr>
        <p:spPr>
          <a:xfrm>
            <a:off x="5111496" y="2286000"/>
            <a:ext cx="1965960" cy="1554480"/>
          </a:xfrm>
          <a:prstGeom prst="roundRect">
            <a:avLst>
              <a:gd name="adj" fmla="val 5294"/>
            </a:avLst>
          </a:prstGeom>
          <a:solidFill>
            <a:srgbClr val="F4F2F5"/>
          </a:solidFill>
          <a:ln w="12700">
            <a:solidFill>
              <a:srgbClr val="DEDAE1"/>
            </a:solidFill>
            <a:prstDash val="solid"/>
          </a:ln>
        </p:spPr>
      </p:sp>
      <p:sp>
        <p:nvSpPr>
          <p:cNvPr id="13" name="Text 10"/>
          <p:cNvSpPr/>
          <p:nvPr/>
        </p:nvSpPr>
        <p:spPr>
          <a:xfrm>
            <a:off x="5111496" y="2468880"/>
            <a:ext cx="1965960" cy="365760"/>
          </a:xfrm>
          <a:prstGeom prst="rect">
            <a:avLst/>
          </a:prstGeom>
          <a:noFill/>
          <a:ln/>
        </p:spPr>
        <p:txBody>
          <a:bodyPr wrap="square" lIns="0" tIns="0" rIns="0" bIns="0" rtlCol="0" anchor="ctr"/>
          <a:lstStyle/>
          <a:p>
            <a:pPr algn="ctr" indent="0" marL="0">
              <a:buNone/>
            </a:pPr>
            <a:r>
              <a:rPr lang="en-US" sz="1500" b="1" dirty="0">
                <a:solidFill>
                  <a:srgbClr val="4C9F70"/>
                </a:solidFill>
                <a:latin typeface="Cambria" pitchFamily="34" charset="0"/>
                <a:ea typeface="Cambria" pitchFamily="34" charset="-122"/>
                <a:cs typeface="Cambria" pitchFamily="34" charset="-120"/>
              </a:rPr>
              <a:t>POS tagging</a:t>
            </a:r>
            <a:endParaRPr lang="en-US" sz="1500" dirty="0"/>
          </a:p>
        </p:txBody>
      </p:sp>
      <p:sp>
        <p:nvSpPr>
          <p:cNvPr id="14" name="Text 11"/>
          <p:cNvSpPr/>
          <p:nvPr/>
        </p:nvSpPr>
        <p:spPr>
          <a:xfrm>
            <a:off x="5111496" y="2880360"/>
            <a:ext cx="1965960" cy="640080"/>
          </a:xfrm>
          <a:prstGeom prst="rect">
            <a:avLst/>
          </a:prstGeom>
          <a:noFill/>
          <a:ln/>
        </p:spPr>
        <p:txBody>
          <a:bodyPr wrap="square" lIns="0" tIns="0" rIns="0" bIns="0" rtlCol="0" anchor="ctr"/>
          <a:lstStyle/>
          <a:p>
            <a:pPr algn="ctr" indent="0" marL="0">
              <a:buNone/>
            </a:pPr>
            <a:r>
              <a:rPr lang="en-US" sz="1200" dirty="0">
                <a:solidFill>
                  <a:srgbClr val="6B6B76"/>
                </a:solidFill>
                <a:latin typeface="Courier New" pitchFamily="34" charset="0"/>
                <a:ea typeface="Courier New" pitchFamily="34" charset="-122"/>
                <a:cs typeface="Courier New" pitchFamily="34" charset="-120"/>
              </a:rPr>
              <a:t>content vs filler</a:t>
            </a:r>
            <a:endParaRPr lang="en-US" sz="1200" dirty="0"/>
          </a:p>
        </p:txBody>
      </p:sp>
      <p:sp>
        <p:nvSpPr>
          <p:cNvPr id="15" name="Shape 12"/>
          <p:cNvSpPr/>
          <p:nvPr/>
        </p:nvSpPr>
        <p:spPr>
          <a:xfrm>
            <a:off x="7141464" y="2926080"/>
            <a:ext cx="219456" cy="256032"/>
          </a:xfrm>
          <a:prstGeom prst="rightArrow">
            <a:avLst/>
          </a:prstGeom>
          <a:solidFill>
            <a:srgbClr val="DEDAE1"/>
          </a:solidFill>
          <a:ln/>
        </p:spPr>
      </p:sp>
      <p:sp>
        <p:nvSpPr>
          <p:cNvPr id="16" name="Shape 13"/>
          <p:cNvSpPr/>
          <p:nvPr/>
        </p:nvSpPr>
        <p:spPr>
          <a:xfrm>
            <a:off x="7415784" y="2286000"/>
            <a:ext cx="1965960" cy="1554480"/>
          </a:xfrm>
          <a:prstGeom prst="roundRect">
            <a:avLst>
              <a:gd name="adj" fmla="val 5294"/>
            </a:avLst>
          </a:prstGeom>
          <a:solidFill>
            <a:srgbClr val="F4F2F5"/>
          </a:solidFill>
          <a:ln w="12700">
            <a:solidFill>
              <a:srgbClr val="DEDAE1"/>
            </a:solidFill>
            <a:prstDash val="solid"/>
          </a:ln>
        </p:spPr>
      </p:sp>
      <p:sp>
        <p:nvSpPr>
          <p:cNvPr id="17" name="Text 14"/>
          <p:cNvSpPr/>
          <p:nvPr/>
        </p:nvSpPr>
        <p:spPr>
          <a:xfrm>
            <a:off x="7415784" y="2468880"/>
            <a:ext cx="1965960" cy="365760"/>
          </a:xfrm>
          <a:prstGeom prst="rect">
            <a:avLst/>
          </a:prstGeom>
          <a:noFill/>
          <a:ln/>
        </p:spPr>
        <p:txBody>
          <a:bodyPr wrap="square" lIns="0" tIns="0" rIns="0" bIns="0" rtlCol="0" anchor="ctr"/>
          <a:lstStyle/>
          <a:p>
            <a:pPr algn="ctr" indent="0" marL="0">
              <a:buNone/>
            </a:pPr>
            <a:r>
              <a:rPr lang="en-US" sz="1500" b="1" dirty="0">
                <a:solidFill>
                  <a:srgbClr val="4C9F70"/>
                </a:solidFill>
                <a:latin typeface="Cambria" pitchFamily="34" charset="0"/>
                <a:ea typeface="Cambria" pitchFamily="34" charset="-122"/>
                <a:cs typeface="Cambria" pitchFamily="34" charset="-120"/>
              </a:rPr>
              <a:t>Semantics</a:t>
            </a:r>
            <a:endParaRPr lang="en-US" sz="1500" dirty="0"/>
          </a:p>
        </p:txBody>
      </p:sp>
      <p:sp>
        <p:nvSpPr>
          <p:cNvPr id="18" name="Text 15"/>
          <p:cNvSpPr/>
          <p:nvPr/>
        </p:nvSpPr>
        <p:spPr>
          <a:xfrm>
            <a:off x="7415784" y="2880360"/>
            <a:ext cx="1965960" cy="640080"/>
          </a:xfrm>
          <a:prstGeom prst="rect">
            <a:avLst/>
          </a:prstGeom>
          <a:noFill/>
          <a:ln/>
        </p:spPr>
        <p:txBody>
          <a:bodyPr wrap="square" lIns="0" tIns="0" rIns="0" bIns="0" rtlCol="0" anchor="ctr"/>
          <a:lstStyle/>
          <a:p>
            <a:pPr algn="ctr" indent="0" marL="0">
              <a:buNone/>
            </a:pPr>
            <a:r>
              <a:rPr lang="en-US" sz="1200" dirty="0">
                <a:solidFill>
                  <a:srgbClr val="6B6B76"/>
                </a:solidFill>
                <a:latin typeface="Courier New" pitchFamily="34" charset="0"/>
                <a:ea typeface="Courier New" pitchFamily="34" charset="-122"/>
                <a:cs typeface="Courier New" pitchFamily="34" charset="-120"/>
              </a:rPr>
              <a:t>TF-IDF similarity</a:t>
            </a:r>
            <a:endParaRPr lang="en-US" sz="1200" dirty="0"/>
          </a:p>
        </p:txBody>
      </p:sp>
      <p:sp>
        <p:nvSpPr>
          <p:cNvPr id="19" name="Shape 16"/>
          <p:cNvSpPr/>
          <p:nvPr/>
        </p:nvSpPr>
        <p:spPr>
          <a:xfrm>
            <a:off x="9445752" y="2926080"/>
            <a:ext cx="219456" cy="256032"/>
          </a:xfrm>
          <a:prstGeom prst="rightArrow">
            <a:avLst/>
          </a:prstGeom>
          <a:solidFill>
            <a:srgbClr val="DEDAE1"/>
          </a:solidFill>
          <a:ln/>
        </p:spPr>
      </p:sp>
      <p:sp>
        <p:nvSpPr>
          <p:cNvPr id="20" name="Shape 17"/>
          <p:cNvSpPr/>
          <p:nvPr/>
        </p:nvSpPr>
        <p:spPr>
          <a:xfrm>
            <a:off x="9720072" y="2286000"/>
            <a:ext cx="1965960" cy="1554480"/>
          </a:xfrm>
          <a:prstGeom prst="roundRect">
            <a:avLst>
              <a:gd name="adj" fmla="val 5294"/>
            </a:avLst>
          </a:prstGeom>
          <a:solidFill>
            <a:srgbClr val="F4F2F5"/>
          </a:solidFill>
          <a:ln w="12700">
            <a:solidFill>
              <a:srgbClr val="DEDAE1"/>
            </a:solidFill>
            <a:prstDash val="solid"/>
          </a:ln>
        </p:spPr>
      </p:sp>
      <p:sp>
        <p:nvSpPr>
          <p:cNvPr id="21" name="Text 18"/>
          <p:cNvSpPr/>
          <p:nvPr/>
        </p:nvSpPr>
        <p:spPr>
          <a:xfrm>
            <a:off x="9720072" y="2468880"/>
            <a:ext cx="1965960" cy="365760"/>
          </a:xfrm>
          <a:prstGeom prst="rect">
            <a:avLst/>
          </a:prstGeom>
          <a:noFill/>
          <a:ln/>
        </p:spPr>
        <p:txBody>
          <a:bodyPr wrap="square" lIns="0" tIns="0" rIns="0" bIns="0" rtlCol="0" anchor="ctr"/>
          <a:lstStyle/>
          <a:p>
            <a:pPr algn="ctr" indent="0" marL="0">
              <a:buNone/>
            </a:pPr>
            <a:r>
              <a:rPr lang="en-US" sz="1500" b="1" dirty="0">
                <a:solidFill>
                  <a:srgbClr val="B5446E"/>
                </a:solidFill>
                <a:latin typeface="Cambria" pitchFamily="34" charset="0"/>
                <a:ea typeface="Cambria" pitchFamily="34" charset="-122"/>
                <a:cs typeface="Cambria" pitchFamily="34" charset="-120"/>
              </a:rPr>
              <a:t>Model</a:t>
            </a:r>
            <a:endParaRPr lang="en-US" sz="1500" dirty="0"/>
          </a:p>
        </p:txBody>
      </p:sp>
      <p:sp>
        <p:nvSpPr>
          <p:cNvPr id="22" name="Text 19"/>
          <p:cNvSpPr/>
          <p:nvPr/>
        </p:nvSpPr>
        <p:spPr>
          <a:xfrm>
            <a:off x="9720072" y="2880360"/>
            <a:ext cx="1965960" cy="640080"/>
          </a:xfrm>
          <a:prstGeom prst="rect">
            <a:avLst/>
          </a:prstGeom>
          <a:noFill/>
          <a:ln/>
        </p:spPr>
        <p:txBody>
          <a:bodyPr wrap="square" lIns="0" tIns="0" rIns="0" bIns="0" rtlCol="0" anchor="ctr"/>
          <a:lstStyle/>
          <a:p>
            <a:pPr algn="ctr" indent="0" marL="0">
              <a:buNone/>
            </a:pPr>
            <a:r>
              <a:rPr lang="en-US" sz="1200" dirty="0">
                <a:solidFill>
                  <a:srgbClr val="6B6B76"/>
                </a:solidFill>
                <a:latin typeface="Courier New" pitchFamily="34" charset="0"/>
                <a:ea typeface="Courier New" pitchFamily="34" charset="-122"/>
                <a:cs typeface="Courier New" pitchFamily="34" charset="-120"/>
              </a:rPr>
              <a:t>classify group</a:t>
            </a:r>
            <a:endParaRPr lang="en-US" sz="1200" dirty="0"/>
          </a:p>
        </p:txBody>
      </p:sp>
      <p:sp>
        <p:nvSpPr>
          <p:cNvPr id="23" name="Text 20"/>
          <p:cNvSpPr/>
          <p:nvPr/>
        </p:nvSpPr>
        <p:spPr>
          <a:xfrm>
            <a:off x="777240" y="4389120"/>
            <a:ext cx="10607040" cy="457200"/>
          </a:xfrm>
          <a:prstGeom prst="rect">
            <a:avLst/>
          </a:prstGeom>
          <a:noFill/>
          <a:ln/>
        </p:spPr>
        <p:txBody>
          <a:bodyPr wrap="square" lIns="0" tIns="0" rIns="0" bIns="0" rtlCol="0" anchor="ctr"/>
          <a:lstStyle/>
          <a:p>
            <a:pPr indent="0" marL="0">
              <a:buNone/>
            </a:pPr>
            <a:r>
              <a:rPr lang="en-US" sz="2000" b="1" dirty="0">
                <a:solidFill>
                  <a:srgbClr val="1C1B22"/>
                </a:solidFill>
                <a:latin typeface="Cambria" pitchFamily="34" charset="0"/>
                <a:ea typeface="Cambria" pitchFamily="34" charset="-122"/>
                <a:cs typeface="Cambria" pitchFamily="34" charset="-120"/>
              </a:rPr>
              <a:t>"NLP" is mostly arithmetic on words.</a:t>
            </a:r>
            <a:endParaRPr lang="en-US" sz="2000" dirty="0"/>
          </a:p>
        </p:txBody>
      </p:sp>
      <p:sp>
        <p:nvSpPr>
          <p:cNvPr id="24" name="Text 21"/>
          <p:cNvSpPr/>
          <p:nvPr/>
        </p:nvSpPr>
        <p:spPr>
          <a:xfrm>
            <a:off x="777240" y="4892040"/>
            <a:ext cx="10058400" cy="822960"/>
          </a:xfrm>
          <a:prstGeom prst="rect">
            <a:avLst/>
          </a:prstGeom>
          <a:noFill/>
          <a:ln/>
        </p:spPr>
        <p:txBody>
          <a:bodyPr wrap="square" lIns="0" tIns="0" rIns="0" bIns="0" rtlCol="0" anchor="ctr"/>
          <a:lstStyle/>
          <a:p>
            <a:pPr indent="0" marL="0">
              <a:lnSpc>
                <a:spcPts val="2200"/>
              </a:lnSpc>
              <a:buNone/>
            </a:pPr>
            <a:r>
              <a:rPr lang="en-US" sz="1500" dirty="0">
                <a:solidFill>
                  <a:srgbClr val="3A3A44"/>
                </a:solidFill>
                <a:latin typeface="Calibri" pitchFamily="34" charset="0"/>
                <a:ea typeface="Calibri" pitchFamily="34" charset="-122"/>
                <a:cs typeface="Calibri" pitchFamily="34" charset="-120"/>
              </a:rPr>
              <a:t>Counting, dividing, and comparing. The heavy machinery comes out only when the arithmetic runs out. Most published discourse measures are in the first two boxes.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10634472" cy="822960"/>
          </a:xfrm>
          <a:prstGeom prst="rect">
            <a:avLst/>
          </a:prstGeom>
          <a:noFill/>
          <a:ln/>
        </p:spPr>
        <p:txBody>
          <a:bodyPr wrap="square" lIns="0" tIns="0" rIns="0" bIns="0" rtlCol="0" anchor="ctr"/>
          <a:lstStyle/>
          <a:p>
            <a:pPr indent="0" marL="0">
              <a:buNone/>
            </a:pPr>
            <a:r>
              <a:rPr lang="en-US" sz="3400" b="1" dirty="0">
                <a:solidFill>
                  <a:srgbClr val="1C1B22"/>
                </a:solidFill>
                <a:latin typeface="Cambria" pitchFamily="34" charset="0"/>
                <a:ea typeface="Cambria" pitchFamily="34" charset="-122"/>
                <a:cs typeface="Cambria" pitchFamily="34" charset="-120"/>
              </a:rPr>
              <a:t>The data (synthetic, and that's the point)</a:t>
            </a:r>
            <a:endParaRPr lang="en-US" sz="3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77240" y="1645920"/>
          <a:ext cx="10607040" cy="914400"/>
        </p:xfrm>
        <a:graphic>
          <a:graphicData uri="http://schemas.openxmlformats.org/drawingml/2006/table">
            <a:tbl>
              <a:tblPr/>
              <a:tblGrid>
                <a:gridCol w="3108960"/>
                <a:gridCol w="7498080"/>
              </a:tblGrid>
              <a:tr h="4754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60 people</a:t>
                      </a:r>
                      <a:endParaRPr lang="en-US" sz="1400" dirty="0">
                        <a:latin typeface="Calibri" charset="0"/>
                        <a:ea typeface="Calibri" charset="0"/>
                        <a:cs typeface="Calibri" charset="0"/>
                      </a:endParaRPr>
                    </a:p>
                  </a:txBody>
                  <a:tcPr marL="91440" marR="91440" marT="45720" marB="45720" anchor="ctr">
                    <a:lnL w="12700" cap="flat" cmpd="sng" algn="ctr">
                      <a:solidFill>
                        <a:srgbClr val="DEDAE1"/>
                      </a:solidFill>
                      <a:prstDash val="solid"/>
                      <a:round/>
                      <a:headEnd type="none" w="med" len="med"/>
                      <a:tailEnd type="none" w="med" len="med"/>
                    </a:lnL>
                    <a:lnR w="12700" cap="flat" cmpd="sng" algn="ctr">
                      <a:solidFill>
                        <a:srgbClr val="DEDAE1"/>
                      </a:solidFill>
                      <a:prstDash val="solid"/>
                      <a:round/>
                      <a:headEnd type="none" w="med" len="med"/>
                      <a:tailEnd type="none" w="med" len="med"/>
                    </a:lnR>
                    <a:lnT w="12700" cap="flat" cmpd="sng" algn="ctr">
                      <a:solidFill>
                        <a:srgbClr val="DEDAE1"/>
                      </a:solidFill>
                      <a:prstDash val="solid"/>
                      <a:round/>
                      <a:headEnd type="none" w="med" len="med"/>
                      <a:tailEnd type="none" w="med" len="med"/>
                    </a:lnT>
                    <a:lnB w="12700" cap="flat" cmpd="sng" algn="ctr">
                      <a:solidFill>
                        <a:srgbClr val="DEDAE1"/>
                      </a:solidFill>
                      <a:prstDash val="solid"/>
                      <a:round/>
                      <a:headEnd type="none" w="med" len="med"/>
                      <a:tailEnd type="none" w="med" len="med"/>
                    </a:lnB>
                    <a:solidFill>
                      <a:srgbClr val="1C1B22"/>
                    </a:solidFill>
                  </a:tcPr>
                </a:tc>
                <a:tc>
                  <a:txBody>
                    <a:bodyPr/>
                    <a:lstStyle/>
                    <a:p>
                      <a:pPr indent="0" marL="0">
                        <a:buNone/>
                      </a:pPr>
                      <a:r>
                        <a:rPr lang="en-US" sz="1400" dirty="0">
                          <a:solidFill>
                            <a:srgbClr val="FFFFFF"/>
                          </a:solidFill>
                          <a:latin typeface="Calibri" pitchFamily="34" charset="0"/>
                          <a:ea typeface="Calibri" pitchFamily="34" charset="-122"/>
                          <a:cs typeface="Calibri" pitchFamily="34" charset="-120"/>
                        </a:rPr>
                        <a:t>30 controls  ·  30 with post-stroke aphasia</a:t>
                      </a:r>
                      <a:endParaRPr lang="en-US" sz="1400" dirty="0">
                        <a:latin typeface="Calibri" charset="0"/>
                        <a:ea typeface="Calibri" charset="0"/>
                        <a:cs typeface="Calibri" charset="0"/>
                      </a:endParaRPr>
                    </a:p>
                  </a:txBody>
                  <a:tcPr marL="91440" marR="91440" marT="45720" marB="45720" anchor="ctr">
                    <a:lnL w="12700" cap="flat" cmpd="sng" algn="ctr">
                      <a:solidFill>
                        <a:srgbClr val="DEDAE1"/>
                      </a:solidFill>
                      <a:prstDash val="solid"/>
                      <a:round/>
                      <a:headEnd type="none" w="med" len="med"/>
                      <a:tailEnd type="none" w="med" len="med"/>
                    </a:lnL>
                    <a:lnR w="12700" cap="flat" cmpd="sng" algn="ctr">
                      <a:solidFill>
                        <a:srgbClr val="DEDAE1"/>
                      </a:solidFill>
                      <a:prstDash val="solid"/>
                      <a:round/>
                      <a:headEnd type="none" w="med" len="med"/>
                      <a:tailEnd type="none" w="med" len="med"/>
                    </a:lnR>
                    <a:lnT w="12700" cap="flat" cmpd="sng" algn="ctr">
                      <a:solidFill>
                        <a:srgbClr val="DEDAE1"/>
                      </a:solidFill>
                      <a:prstDash val="solid"/>
                      <a:round/>
                      <a:headEnd type="none" w="med" len="med"/>
                      <a:tailEnd type="none" w="med" len="med"/>
                    </a:lnT>
                    <a:lnB w="12700" cap="flat" cmpd="sng" algn="ctr">
                      <a:solidFill>
                        <a:srgbClr val="DEDAE1"/>
                      </a:solidFill>
                      <a:prstDash val="solid"/>
                      <a:round/>
                      <a:headEnd type="none" w="med" len="med"/>
                      <a:tailEnd type="none" w="med" len="med"/>
                    </a:lnB>
                    <a:solidFill>
                      <a:srgbClr val="1C1B22"/>
                    </a:solidFill>
                  </a:tcPr>
                </a:tc>
              </a:tr>
              <a:tr h="475488">
                <a:tc>
                  <a:txBody>
                    <a:bodyPr/>
                    <a:lstStyle/>
                    <a:p>
                      <a:pPr indent="0" marL="0">
                        <a:buNone/>
                      </a:pPr>
                      <a:r>
                        <a:rPr lang="en-US" sz="1400" dirty="0">
                          <a:solidFill>
                            <a:srgbClr val="3A3A44"/>
                          </a:solidFill>
                          <a:latin typeface="Calibri" pitchFamily="34" charset="0"/>
                          <a:ea typeface="Calibri" pitchFamily="34" charset="-122"/>
                          <a:cs typeface="Calibri" pitchFamily="34" charset="-120"/>
                        </a:rPr>
                        <a:t>transcript</a:t>
                      </a:r>
                      <a:endParaRPr lang="en-US" sz="1400" dirty="0">
                        <a:latin typeface="Calibri" charset="0"/>
                        <a:ea typeface="Calibri" charset="0"/>
                        <a:cs typeface="Calibri" charset="0"/>
                      </a:endParaRPr>
                    </a:p>
                  </a:txBody>
                  <a:tcPr marL="91440" marR="91440" marT="45720" marB="45720" anchor="ctr">
                    <a:lnL w="12700" cap="flat" cmpd="sng" algn="ctr">
                      <a:solidFill>
                        <a:srgbClr val="DEDAE1"/>
                      </a:solidFill>
                      <a:prstDash val="solid"/>
                      <a:round/>
                      <a:headEnd type="none" w="med" len="med"/>
                      <a:tailEnd type="none" w="med" len="med"/>
                    </a:lnL>
                    <a:lnR w="12700" cap="flat" cmpd="sng" algn="ctr">
                      <a:solidFill>
                        <a:srgbClr val="DEDAE1"/>
                      </a:solidFill>
                      <a:prstDash val="solid"/>
                      <a:round/>
                      <a:headEnd type="none" w="med" len="med"/>
                      <a:tailEnd type="none" w="med" len="med"/>
                    </a:lnR>
                    <a:lnT w="12700" cap="flat" cmpd="sng" algn="ctr">
                      <a:solidFill>
                        <a:srgbClr val="DEDAE1"/>
                      </a:solidFill>
                      <a:prstDash val="solid"/>
                      <a:round/>
                      <a:headEnd type="none" w="med" len="med"/>
                      <a:tailEnd type="none" w="med" len="med"/>
                    </a:lnT>
                    <a:lnB w="12700" cap="flat" cmpd="sng" algn="ctr">
                      <a:solidFill>
                        <a:srgbClr val="DEDAE1"/>
                      </a:solidFill>
                      <a:prstDash val="solid"/>
                      <a:round/>
                      <a:headEnd type="none" w="med" len="med"/>
                      <a:tailEnd type="none" w="med" len="med"/>
                    </a:lnB>
                  </a:tcPr>
                </a:tc>
                <a:tc>
                  <a:txBody>
                    <a:bodyPr/>
                    <a:lstStyle/>
                    <a:p>
                      <a:pPr indent="0" marL="0">
                        <a:buNone/>
                      </a:pPr>
                      <a:r>
                        <a:rPr lang="en-US" sz="1400" dirty="0">
                          <a:solidFill>
                            <a:srgbClr val="3A3A44"/>
                          </a:solidFill>
                          <a:latin typeface="Calibri" pitchFamily="34" charset="0"/>
                          <a:ea typeface="Calibri" pitchFamily="34" charset="-122"/>
                          <a:cs typeface="Calibri" pitchFamily="34" charset="-120"/>
                        </a:rPr>
                        <a:t>What they said describing a kitchen scene</a:t>
                      </a:r>
                      <a:endParaRPr lang="en-US" sz="1400" dirty="0">
                        <a:latin typeface="Calibri" charset="0"/>
                        <a:ea typeface="Calibri" charset="0"/>
                        <a:cs typeface="Calibri" charset="0"/>
                      </a:endParaRPr>
                    </a:p>
                  </a:txBody>
                  <a:tcPr marL="91440" marR="91440" marT="45720" marB="45720" anchor="ctr">
                    <a:lnL w="12700" cap="flat" cmpd="sng" algn="ctr">
                      <a:solidFill>
                        <a:srgbClr val="DEDAE1"/>
                      </a:solidFill>
                      <a:prstDash val="solid"/>
                      <a:round/>
                      <a:headEnd type="none" w="med" len="med"/>
                      <a:tailEnd type="none" w="med" len="med"/>
                    </a:lnL>
                    <a:lnR w="12700" cap="flat" cmpd="sng" algn="ctr">
                      <a:solidFill>
                        <a:srgbClr val="DEDAE1"/>
                      </a:solidFill>
                      <a:prstDash val="solid"/>
                      <a:round/>
                      <a:headEnd type="none" w="med" len="med"/>
                      <a:tailEnd type="none" w="med" len="med"/>
                    </a:lnR>
                    <a:lnT w="12700" cap="flat" cmpd="sng" algn="ctr">
                      <a:solidFill>
                        <a:srgbClr val="DEDAE1"/>
                      </a:solidFill>
                      <a:prstDash val="solid"/>
                      <a:round/>
                      <a:headEnd type="none" w="med" len="med"/>
                      <a:tailEnd type="none" w="med" len="med"/>
                    </a:lnT>
                    <a:lnB w="12700" cap="flat" cmpd="sng" algn="ctr">
                      <a:solidFill>
                        <a:srgbClr val="DEDAE1"/>
                      </a:solidFill>
                      <a:prstDash val="solid"/>
                      <a:round/>
                      <a:headEnd type="none" w="med" len="med"/>
                      <a:tailEnd type="none" w="med" len="med"/>
                    </a:lnB>
                  </a:tcPr>
                </a:tc>
              </a:tr>
              <a:tr h="475488">
                <a:tc>
                  <a:txBody>
                    <a:bodyPr/>
                    <a:lstStyle/>
                    <a:p>
                      <a:pPr indent="0" marL="0">
                        <a:buNone/>
                      </a:pPr>
                      <a:r>
                        <a:rPr lang="en-US" sz="1400" dirty="0">
                          <a:solidFill>
                            <a:srgbClr val="3A3A44"/>
                          </a:solidFill>
                          <a:latin typeface="Calibri" pitchFamily="34" charset="0"/>
                          <a:ea typeface="Calibri" pitchFamily="34" charset="-122"/>
                          <a:cs typeface="Calibri" pitchFamily="34" charset="-120"/>
                        </a:rPr>
                        <a:t>wab_aq</a:t>
                      </a:r>
                      <a:endParaRPr lang="en-US" sz="1400" dirty="0">
                        <a:latin typeface="Calibri" charset="0"/>
                        <a:ea typeface="Calibri" charset="0"/>
                        <a:cs typeface="Calibri" charset="0"/>
                      </a:endParaRPr>
                    </a:p>
                  </a:txBody>
                  <a:tcPr marL="91440" marR="91440" marT="45720" marB="45720" anchor="ctr">
                    <a:lnL w="12700" cap="flat" cmpd="sng" algn="ctr">
                      <a:solidFill>
                        <a:srgbClr val="DEDAE1"/>
                      </a:solidFill>
                      <a:prstDash val="solid"/>
                      <a:round/>
                      <a:headEnd type="none" w="med" len="med"/>
                      <a:tailEnd type="none" w="med" len="med"/>
                    </a:lnL>
                    <a:lnR w="12700" cap="flat" cmpd="sng" algn="ctr">
                      <a:solidFill>
                        <a:srgbClr val="DEDAE1"/>
                      </a:solidFill>
                      <a:prstDash val="solid"/>
                      <a:round/>
                      <a:headEnd type="none" w="med" len="med"/>
                      <a:tailEnd type="none" w="med" len="med"/>
                    </a:lnR>
                    <a:lnT w="12700" cap="flat" cmpd="sng" algn="ctr">
                      <a:solidFill>
                        <a:srgbClr val="DEDAE1"/>
                      </a:solidFill>
                      <a:prstDash val="solid"/>
                      <a:round/>
                      <a:headEnd type="none" w="med" len="med"/>
                      <a:tailEnd type="none" w="med" len="med"/>
                    </a:lnT>
                    <a:lnB w="12700" cap="flat" cmpd="sng" algn="ctr">
                      <a:solidFill>
                        <a:srgbClr val="DEDAE1"/>
                      </a:solidFill>
                      <a:prstDash val="solid"/>
                      <a:round/>
                      <a:headEnd type="none" w="med" len="med"/>
                      <a:tailEnd type="none" w="med" len="med"/>
                    </a:lnB>
                  </a:tcPr>
                </a:tc>
                <a:tc>
                  <a:txBody>
                    <a:bodyPr/>
                    <a:lstStyle/>
                    <a:p>
                      <a:pPr indent="0" marL="0">
                        <a:buNone/>
                      </a:pPr>
                      <a:r>
                        <a:rPr lang="en-US" sz="1400" dirty="0">
                          <a:solidFill>
                            <a:srgbClr val="3A3A44"/>
                          </a:solidFill>
                          <a:latin typeface="Calibri" pitchFamily="34" charset="0"/>
                          <a:ea typeface="Calibri" pitchFamily="34" charset="-122"/>
                          <a:cs typeface="Calibri" pitchFamily="34" charset="-120"/>
                        </a:rPr>
                        <a:t>Aphasia severity, 0–100. Higher = less impaired. Controls sit at ~99.</a:t>
                      </a:r>
                      <a:endParaRPr lang="en-US" sz="1400" dirty="0">
                        <a:latin typeface="Calibri" charset="0"/>
                        <a:ea typeface="Calibri" charset="0"/>
                        <a:cs typeface="Calibri" charset="0"/>
                      </a:endParaRPr>
                    </a:p>
                  </a:txBody>
                  <a:tcPr marL="91440" marR="91440" marT="45720" marB="45720" anchor="ctr">
                    <a:lnL w="12700" cap="flat" cmpd="sng" algn="ctr">
                      <a:solidFill>
                        <a:srgbClr val="DEDAE1"/>
                      </a:solidFill>
                      <a:prstDash val="solid"/>
                      <a:round/>
                      <a:headEnd type="none" w="med" len="med"/>
                      <a:tailEnd type="none" w="med" len="med"/>
                    </a:lnL>
                    <a:lnR w="12700" cap="flat" cmpd="sng" algn="ctr">
                      <a:solidFill>
                        <a:srgbClr val="DEDAE1"/>
                      </a:solidFill>
                      <a:prstDash val="solid"/>
                      <a:round/>
                      <a:headEnd type="none" w="med" len="med"/>
                      <a:tailEnd type="none" w="med" len="med"/>
                    </a:lnR>
                    <a:lnT w="12700" cap="flat" cmpd="sng" algn="ctr">
                      <a:solidFill>
                        <a:srgbClr val="DEDAE1"/>
                      </a:solidFill>
                      <a:prstDash val="solid"/>
                      <a:round/>
                      <a:headEnd type="none" w="med" len="med"/>
                      <a:tailEnd type="none" w="med" len="med"/>
                    </a:lnT>
                    <a:lnB w="12700" cap="flat" cmpd="sng" algn="ctr">
                      <a:solidFill>
                        <a:srgbClr val="DEDAE1"/>
                      </a:solidFill>
                      <a:prstDash val="solid"/>
                      <a:round/>
                      <a:headEnd type="none" w="med" len="med"/>
                      <a:tailEnd type="none" w="med" len="med"/>
                    </a:lnB>
                  </a:tcPr>
                </a:tc>
              </a:tr>
              <a:tr h="475488">
                <a:tc>
                  <a:txBody>
                    <a:bodyPr/>
                    <a:lstStyle/>
                    <a:p>
                      <a:pPr indent="0" marL="0">
                        <a:buNone/>
                      </a:pPr>
                      <a:r>
                        <a:rPr lang="en-US" sz="1400" dirty="0">
                          <a:solidFill>
                            <a:srgbClr val="3A3A44"/>
                          </a:solidFill>
                          <a:latin typeface="Calibri" pitchFamily="34" charset="0"/>
                          <a:ea typeface="Calibri" pitchFamily="34" charset="-122"/>
                          <a:cs typeface="Calibri" pitchFamily="34" charset="-120"/>
                        </a:rPr>
                        <a:t>group, age, sex, education</a:t>
                      </a:r>
                      <a:endParaRPr lang="en-US" sz="1400" dirty="0">
                        <a:latin typeface="Calibri" charset="0"/>
                        <a:ea typeface="Calibri" charset="0"/>
                        <a:cs typeface="Calibri" charset="0"/>
                      </a:endParaRPr>
                    </a:p>
                  </a:txBody>
                  <a:tcPr marL="91440" marR="91440" marT="45720" marB="45720" anchor="ctr">
                    <a:lnL w="12700" cap="flat" cmpd="sng" algn="ctr">
                      <a:solidFill>
                        <a:srgbClr val="DEDAE1"/>
                      </a:solidFill>
                      <a:prstDash val="solid"/>
                      <a:round/>
                      <a:headEnd type="none" w="med" len="med"/>
                      <a:tailEnd type="none" w="med" len="med"/>
                    </a:lnL>
                    <a:lnR w="12700" cap="flat" cmpd="sng" algn="ctr">
                      <a:solidFill>
                        <a:srgbClr val="DEDAE1"/>
                      </a:solidFill>
                      <a:prstDash val="solid"/>
                      <a:round/>
                      <a:headEnd type="none" w="med" len="med"/>
                      <a:tailEnd type="none" w="med" len="med"/>
                    </a:lnR>
                    <a:lnT w="12700" cap="flat" cmpd="sng" algn="ctr">
                      <a:solidFill>
                        <a:srgbClr val="DEDAE1"/>
                      </a:solidFill>
                      <a:prstDash val="solid"/>
                      <a:round/>
                      <a:headEnd type="none" w="med" len="med"/>
                      <a:tailEnd type="none" w="med" len="med"/>
                    </a:lnT>
                    <a:lnB w="12700" cap="flat" cmpd="sng" algn="ctr">
                      <a:solidFill>
                        <a:srgbClr val="DEDAE1"/>
                      </a:solidFill>
                      <a:prstDash val="solid"/>
                      <a:round/>
                      <a:headEnd type="none" w="med" len="med"/>
                      <a:tailEnd type="none" w="med" len="med"/>
                    </a:lnB>
                  </a:tcPr>
                </a:tc>
                <a:tc>
                  <a:txBody>
                    <a:bodyPr/>
                    <a:lstStyle/>
                    <a:p>
                      <a:pPr indent="0" marL="0">
                        <a:buNone/>
                      </a:pPr>
                      <a:r>
                        <a:rPr lang="en-US" sz="1400" dirty="0">
                          <a:solidFill>
                            <a:srgbClr val="3A3A44"/>
                          </a:solidFill>
                          <a:latin typeface="Calibri" pitchFamily="34" charset="0"/>
                          <a:ea typeface="Calibri" pitchFamily="34" charset="-122"/>
                          <a:cs typeface="Calibri" pitchFamily="34" charset="-120"/>
                        </a:rPr>
                        <a:t>The usual</a:t>
                      </a:r>
                      <a:endParaRPr lang="en-US" sz="1400" dirty="0">
                        <a:latin typeface="Calibri" charset="0"/>
                        <a:ea typeface="Calibri" charset="0"/>
                        <a:cs typeface="Calibri" charset="0"/>
                      </a:endParaRPr>
                    </a:p>
                  </a:txBody>
                  <a:tcPr marL="91440" marR="91440" marT="45720" marB="45720" anchor="ctr">
                    <a:lnL w="12700" cap="flat" cmpd="sng" algn="ctr">
                      <a:solidFill>
                        <a:srgbClr val="DEDAE1"/>
                      </a:solidFill>
                      <a:prstDash val="solid"/>
                      <a:round/>
                      <a:headEnd type="none" w="med" len="med"/>
                      <a:tailEnd type="none" w="med" len="med"/>
                    </a:lnL>
                    <a:lnR w="12700" cap="flat" cmpd="sng" algn="ctr">
                      <a:solidFill>
                        <a:srgbClr val="DEDAE1"/>
                      </a:solidFill>
                      <a:prstDash val="solid"/>
                      <a:round/>
                      <a:headEnd type="none" w="med" len="med"/>
                      <a:tailEnd type="none" w="med" len="med"/>
                    </a:lnR>
                    <a:lnT w="12700" cap="flat" cmpd="sng" algn="ctr">
                      <a:solidFill>
                        <a:srgbClr val="DEDAE1"/>
                      </a:solidFill>
                      <a:prstDash val="solid"/>
                      <a:round/>
                      <a:headEnd type="none" w="med" len="med"/>
                      <a:tailEnd type="none" w="med" len="med"/>
                    </a:lnT>
                    <a:lnB w="12700" cap="flat" cmpd="sng" algn="ctr">
                      <a:solidFill>
                        <a:srgbClr val="DEDAE1"/>
                      </a:solidFill>
                      <a:prstDash val="solid"/>
                      <a:round/>
                      <a:headEnd type="none" w="med" len="med"/>
                      <a:tailEnd type="none" w="med" len="med"/>
                    </a:lnB>
                  </a:tcPr>
                </a:tc>
              </a:tr>
              <a:tr h="475488">
                <a:tc>
                  <a:txBody>
                    <a:bodyPr/>
                    <a:lstStyle/>
                    <a:p>
                      <a:pPr indent="0" marL="0">
                        <a:buNone/>
                      </a:pPr>
                      <a:r>
                        <a:rPr lang="en-US" sz="1400" dirty="0">
                          <a:solidFill>
                            <a:srgbClr val="3A3A44"/>
                          </a:solidFill>
                          <a:latin typeface="Calibri" pitchFamily="34" charset="0"/>
                          <a:ea typeface="Calibri" pitchFamily="34" charset="-122"/>
                          <a:cs typeface="Calibri" pitchFamily="34" charset="-120"/>
                        </a:rPr>
                        <a:t>transcripts_long.csv</a:t>
                      </a:r>
                      <a:endParaRPr lang="en-US" sz="1400" dirty="0">
                        <a:latin typeface="Calibri" charset="0"/>
                        <a:ea typeface="Calibri" charset="0"/>
                        <a:cs typeface="Calibri" charset="0"/>
                      </a:endParaRPr>
                    </a:p>
                  </a:txBody>
                  <a:tcPr marL="91440" marR="91440" marT="45720" marB="45720" anchor="ctr">
                    <a:lnL w="12700" cap="flat" cmpd="sng" algn="ctr">
                      <a:solidFill>
                        <a:srgbClr val="DEDAE1"/>
                      </a:solidFill>
                      <a:prstDash val="solid"/>
                      <a:round/>
                      <a:headEnd type="none" w="med" len="med"/>
                      <a:tailEnd type="none" w="med" len="med"/>
                    </a:lnL>
                    <a:lnR w="12700" cap="flat" cmpd="sng" algn="ctr">
                      <a:solidFill>
                        <a:srgbClr val="DEDAE1"/>
                      </a:solidFill>
                      <a:prstDash val="solid"/>
                      <a:round/>
                      <a:headEnd type="none" w="med" len="med"/>
                      <a:tailEnd type="none" w="med" len="med"/>
                    </a:lnR>
                    <a:lnT w="12700" cap="flat" cmpd="sng" algn="ctr">
                      <a:solidFill>
                        <a:srgbClr val="DEDAE1"/>
                      </a:solidFill>
                      <a:prstDash val="solid"/>
                      <a:round/>
                      <a:headEnd type="none" w="med" len="med"/>
                      <a:tailEnd type="none" w="med" len="med"/>
                    </a:lnT>
                    <a:lnB w="12700" cap="flat" cmpd="sng" algn="ctr">
                      <a:solidFill>
                        <a:srgbClr val="DEDAE1"/>
                      </a:solidFill>
                      <a:prstDash val="solid"/>
                      <a:round/>
                      <a:headEnd type="none" w="med" len="med"/>
                      <a:tailEnd type="none" w="med" len="med"/>
                    </a:lnB>
                  </a:tcPr>
                </a:tc>
                <a:tc>
                  <a:txBody>
                    <a:bodyPr/>
                    <a:lstStyle/>
                    <a:p>
                      <a:pPr indent="0" marL="0">
                        <a:buNone/>
                      </a:pPr>
                      <a:r>
                        <a:rPr lang="en-US" sz="1400" dirty="0">
                          <a:solidFill>
                            <a:srgbClr val="3A3A44"/>
                          </a:solidFill>
                          <a:latin typeface="Calibri" pitchFamily="34" charset="0"/>
                          <a:ea typeface="Calibri" pitchFamily="34" charset="-122"/>
                          <a:cs typeface="Calibri" pitchFamily="34" charset="-120"/>
                        </a:rPr>
                        <a:t>The 30 patients again at 12 months. 60 rows — but only 30 people.</a:t>
                      </a:r>
                      <a:endParaRPr lang="en-US" sz="1400" dirty="0">
                        <a:latin typeface="Calibri" charset="0"/>
                        <a:ea typeface="Calibri" charset="0"/>
                        <a:cs typeface="Calibri" charset="0"/>
                      </a:endParaRPr>
                    </a:p>
                  </a:txBody>
                  <a:tcPr marL="91440" marR="91440" marT="45720" marB="45720" anchor="ctr">
                    <a:lnL w="12700" cap="flat" cmpd="sng" algn="ctr">
                      <a:solidFill>
                        <a:srgbClr val="DEDAE1"/>
                      </a:solidFill>
                      <a:prstDash val="solid"/>
                      <a:round/>
                      <a:headEnd type="none" w="med" len="med"/>
                      <a:tailEnd type="none" w="med" len="med"/>
                    </a:lnL>
                    <a:lnR w="12700" cap="flat" cmpd="sng" algn="ctr">
                      <a:solidFill>
                        <a:srgbClr val="DEDAE1"/>
                      </a:solidFill>
                      <a:prstDash val="solid"/>
                      <a:round/>
                      <a:headEnd type="none" w="med" len="med"/>
                      <a:tailEnd type="none" w="med" len="med"/>
                    </a:lnR>
                    <a:lnT w="12700" cap="flat" cmpd="sng" algn="ctr">
                      <a:solidFill>
                        <a:srgbClr val="DEDAE1"/>
                      </a:solidFill>
                      <a:prstDash val="solid"/>
                      <a:round/>
                      <a:headEnd type="none" w="med" len="med"/>
                      <a:tailEnd type="none" w="med" len="med"/>
                    </a:lnT>
                    <a:lnB w="12700" cap="flat" cmpd="sng" algn="ctr">
                      <a:solidFill>
                        <a:srgbClr val="DEDAE1"/>
                      </a:solidFill>
                      <a:prstDash val="solid"/>
                      <a:round/>
                      <a:headEnd type="none" w="med" len="med"/>
                      <a:tailEnd type="none" w="med" len="med"/>
                    </a:lnB>
                  </a:tcPr>
                </a:tc>
              </a:tr>
            </a:tbl>
          </a:graphicData>
        </a:graphic>
      </p:graphicFrame>
      <p:sp>
        <p:nvSpPr>
          <p:cNvPr id="5" name="Shape 1"/>
          <p:cNvSpPr/>
          <p:nvPr/>
        </p:nvSpPr>
        <p:spPr>
          <a:xfrm>
            <a:off x="777240" y="4572000"/>
            <a:ext cx="10607040" cy="1600200"/>
          </a:xfrm>
          <a:prstGeom prst="roundRect">
            <a:avLst>
              <a:gd name="adj" fmla="val 5143"/>
            </a:avLst>
          </a:prstGeom>
          <a:solidFill>
            <a:srgbClr val="FBF0F4"/>
          </a:solidFill>
          <a:ln w="12700">
            <a:solidFill>
              <a:srgbClr val="DEDAE1"/>
            </a:solidFill>
            <a:prstDash val="solid"/>
          </a:ln>
        </p:spPr>
      </p:sp>
      <p:sp>
        <p:nvSpPr>
          <p:cNvPr id="6" name="Text 2"/>
          <p:cNvSpPr/>
          <p:nvPr/>
        </p:nvSpPr>
        <p:spPr>
          <a:xfrm>
            <a:off x="1143000" y="4709160"/>
            <a:ext cx="9875520" cy="365760"/>
          </a:xfrm>
          <a:prstGeom prst="rect">
            <a:avLst/>
          </a:prstGeom>
          <a:noFill/>
          <a:ln/>
        </p:spPr>
        <p:txBody>
          <a:bodyPr wrap="square" lIns="0" tIns="0" rIns="0" bIns="0" rtlCol="0" anchor="ctr"/>
          <a:lstStyle/>
          <a:p>
            <a:pPr indent="0" marL="0">
              <a:buNone/>
            </a:pPr>
            <a:r>
              <a:rPr lang="en-US" sz="1700" b="1" dirty="0">
                <a:solidFill>
                  <a:srgbClr val="B5446E"/>
                </a:solidFill>
                <a:latin typeface="Cambria" pitchFamily="34" charset="0"/>
                <a:ea typeface="Cambria" pitchFamily="34" charset="-122"/>
                <a:cs typeface="Cambria" pitchFamily="34" charset="-120"/>
              </a:rPr>
              <a:t>Not one word of this was said by a real person.</a:t>
            </a:r>
            <a:endParaRPr lang="en-US" sz="1700" dirty="0"/>
          </a:p>
        </p:txBody>
      </p:sp>
      <p:sp>
        <p:nvSpPr>
          <p:cNvPr id="7" name="Text 3"/>
          <p:cNvSpPr/>
          <p:nvPr/>
        </p:nvSpPr>
        <p:spPr>
          <a:xfrm>
            <a:off x="1143000" y="5120640"/>
            <a:ext cx="9875520" cy="914400"/>
          </a:xfrm>
          <a:prstGeom prst="rect">
            <a:avLst/>
          </a:prstGeom>
          <a:noFill/>
          <a:ln/>
        </p:spPr>
        <p:txBody>
          <a:bodyPr wrap="square" lIns="0" tIns="0" rIns="0" bIns="0" rtlCol="0" anchor="ctr"/>
          <a:lstStyle/>
          <a:p>
            <a:pPr indent="0" marL="0">
              <a:lnSpc>
                <a:spcPts val="2000"/>
              </a:lnSpc>
              <a:buNone/>
            </a:pPr>
            <a:r>
              <a:rPr lang="en-US" sz="1400" dirty="0">
                <a:solidFill>
                  <a:srgbClr val="3A3A44"/>
                </a:solidFill>
                <a:latin typeface="Calibri" pitchFamily="34" charset="0"/>
                <a:ea typeface="Calibri" pitchFamily="34" charset="-122"/>
                <a:cs typeface="Calibri" pitchFamily="34" charset="-120"/>
              </a:rPr>
              <a:t>Every transcript came out of data/make_data.py. Which is exactly why we can paste it into a chatbot for three hours. Remember how this feels — you don't get it back with real data.</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10634472" cy="822960"/>
          </a:xfrm>
          <a:prstGeom prst="rect">
            <a:avLst/>
          </a:prstGeom>
          <a:noFill/>
          <a:ln/>
        </p:spPr>
        <p:txBody>
          <a:bodyPr wrap="square" lIns="0" tIns="0" rIns="0" bIns="0" rtlCol="0" anchor="ctr"/>
          <a:lstStyle/>
          <a:p>
            <a:pPr indent="0" marL="0">
              <a:buNone/>
            </a:pPr>
            <a:r>
              <a:rPr lang="en-US" sz="3400" b="1" dirty="0">
                <a:solidFill>
                  <a:srgbClr val="1C1B22"/>
                </a:solidFill>
                <a:latin typeface="Cambria" pitchFamily="34" charset="0"/>
                <a:ea typeface="Cambria" pitchFamily="34" charset="-122"/>
                <a:cs typeface="Cambria" pitchFamily="34" charset="-120"/>
              </a:rPr>
              <a:t>Trap 1 — the AI will pool your controls</a:t>
            </a:r>
            <a:endParaRPr lang="en-US" sz="3400" dirty="0"/>
          </a:p>
        </p:txBody>
      </p:sp>
      <p:sp>
        <p:nvSpPr>
          <p:cNvPr id="4" name="Text 1"/>
          <p:cNvSpPr/>
          <p:nvPr/>
        </p:nvSpPr>
        <p:spPr>
          <a:xfrm>
            <a:off x="777240" y="1234440"/>
            <a:ext cx="10607040" cy="365760"/>
          </a:xfrm>
          <a:prstGeom prst="rect">
            <a:avLst/>
          </a:prstGeom>
          <a:noFill/>
          <a:ln/>
        </p:spPr>
        <p:txBody>
          <a:bodyPr wrap="square" lIns="0" tIns="0" rIns="0" bIns="0" rtlCol="0" anchor="ctr"/>
          <a:lstStyle/>
          <a:p>
            <a:pPr indent="0" marL="0">
              <a:buNone/>
            </a:pPr>
            <a:r>
              <a:rPr lang="en-US" sz="1500" i="1" dirty="0">
                <a:solidFill>
                  <a:srgbClr val="6B6B76"/>
                </a:solidFill>
                <a:latin typeface="Calibri" pitchFamily="34" charset="0"/>
                <a:ea typeface="Calibri" pitchFamily="34" charset="-122"/>
                <a:cs typeface="Calibri" pitchFamily="34" charset="-120"/>
              </a:rPr>
              <a:t>Variance in severity explained by how many words someone produced</a:t>
            </a:r>
            <a:endParaRPr lang="en-US" sz="1500" dirty="0"/>
          </a:p>
        </p:txBody>
      </p:sp>
      <p:graphicFrame>
        <p:nvGraphicFramePr>
          <p:cNvPr id="5" name="Chart 0" descr=""/>
          <p:cNvGraphicFramePr/>
          <p:nvPr/>
        </p:nvGraphicFramePr>
        <p:xfrm>
          <a:off x="777240" y="1691640"/>
          <a:ext cx="6035040" cy="393192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78040" y="1691640"/>
            <a:ext cx="4206240" cy="3931920"/>
          </a:xfrm>
          <a:prstGeom prst="roundRect">
            <a:avLst>
              <a:gd name="adj" fmla="val 2093"/>
            </a:avLst>
          </a:prstGeom>
          <a:solidFill>
            <a:srgbClr val="F4F2F5"/>
          </a:solidFill>
          <a:ln w="12700">
            <a:solidFill>
              <a:srgbClr val="DEDAE1"/>
            </a:solidFill>
            <a:prstDash val="solid"/>
          </a:ln>
        </p:spPr>
      </p:sp>
      <p:sp>
        <p:nvSpPr>
          <p:cNvPr id="7" name="Text 3"/>
          <p:cNvSpPr/>
          <p:nvPr/>
        </p:nvSpPr>
        <p:spPr>
          <a:xfrm>
            <a:off x="7452360" y="1874520"/>
            <a:ext cx="3657600" cy="365760"/>
          </a:xfrm>
          <a:prstGeom prst="rect">
            <a:avLst/>
          </a:prstGeom>
          <a:noFill/>
          <a:ln/>
        </p:spPr>
        <p:txBody>
          <a:bodyPr wrap="square" lIns="0" tIns="0" rIns="0" bIns="0" rtlCol="0" anchor="ctr"/>
          <a:lstStyle/>
          <a:p>
            <a:pPr indent="0" marL="0">
              <a:buNone/>
            </a:pPr>
            <a:r>
              <a:rPr lang="en-US" sz="1700" b="1" dirty="0">
                <a:solidFill>
                  <a:srgbClr val="1C1B22"/>
                </a:solidFill>
                <a:latin typeface="Cambria" pitchFamily="34" charset="0"/>
                <a:ea typeface="Cambria" pitchFamily="34" charset="-122"/>
                <a:cs typeface="Cambria" pitchFamily="34" charset="-120"/>
              </a:rPr>
              <a:t>Why</a:t>
            </a:r>
            <a:endParaRPr lang="en-US" sz="1700" dirty="0"/>
          </a:p>
        </p:txBody>
      </p:sp>
      <p:sp>
        <p:nvSpPr>
          <p:cNvPr id="8" name="Text 4"/>
          <p:cNvSpPr/>
          <p:nvPr/>
        </p:nvSpPr>
        <p:spPr>
          <a:xfrm>
            <a:off x="7452360" y="2331720"/>
            <a:ext cx="3657600" cy="3108960"/>
          </a:xfrm>
          <a:prstGeom prst="rect">
            <a:avLst/>
          </a:prstGeom>
          <a:noFill/>
          <a:ln/>
        </p:spPr>
        <p:txBody>
          <a:bodyPr wrap="square" lIns="0" tIns="0" rIns="0" bIns="0" rtlCol="0" anchor="ctr"/>
          <a:lstStyle/>
          <a:p>
            <a:pPr indent="0" marL="0">
              <a:lnSpc>
                <a:spcPts val="1900"/>
              </a:lnSpc>
              <a:buNone/>
            </a:pPr>
            <a:r>
              <a:rPr lang="en-US" sz="1300" dirty="0">
                <a:solidFill>
                  <a:srgbClr val="3A3A44"/>
                </a:solidFill>
                <a:latin typeface="Calibri" pitchFamily="34" charset="0"/>
                <a:ea typeface="Calibri" pitchFamily="34" charset="-122"/>
                <a:cs typeface="Calibri" pitchFamily="34" charset="-120"/>
              </a:rPr>
              <a:t>Controls all score ~99 on the WAB. They have no variance to explain.</a:t>
            </a:r>
            <a:endParaRPr lang="en-US" sz="1300" dirty="0"/>
          </a:p>
          <a:p>
            <a:pPr indent="0" marL="0">
              <a:lnSpc>
                <a:spcPts val="1900"/>
              </a:lnSpc>
              <a:buNone/>
            </a:pPr>
            <a:endParaRPr lang="en-US" sz="1300" dirty="0"/>
          </a:p>
          <a:p>
            <a:pPr indent="0" marL="0">
              <a:lnSpc>
                <a:spcPts val="1900"/>
              </a:lnSpc>
              <a:buNone/>
            </a:pPr>
            <a:r>
              <a:rPr lang="en-US" sz="1300" dirty="0">
                <a:solidFill>
                  <a:srgbClr val="3A3A44"/>
                </a:solidFill>
                <a:latin typeface="Calibri" pitchFamily="34" charset="0"/>
                <a:ea typeface="Calibri" pitchFamily="34" charset="-122"/>
                <a:cs typeface="Calibri" pitchFamily="34" charset="-120"/>
              </a:rPr>
              <a:t>Pool them in and half your "explained variance" is just the fact that patients differ from controls. Which you knew before you started.</a:t>
            </a:r>
            <a:endParaRPr lang="en-US" sz="1300" dirty="0"/>
          </a:p>
          <a:p>
            <a:pPr indent="0" marL="0">
              <a:lnSpc>
                <a:spcPts val="1900"/>
              </a:lnSpc>
              <a:buNone/>
            </a:pPr>
            <a:endParaRPr lang="en-US" sz="1300" dirty="0"/>
          </a:p>
          <a:p>
            <a:pPr indent="0" marL="0">
              <a:lnSpc>
                <a:spcPts val="1900"/>
              </a:lnSpc>
              <a:buNone/>
            </a:pPr>
            <a:r>
              <a:rPr lang="en-US" sz="1300" dirty="0">
                <a:solidFill>
                  <a:srgbClr val="3A3A44"/>
                </a:solidFill>
                <a:latin typeface="Calibri" pitchFamily="34" charset="0"/>
                <a:ea typeface="Calibri" pitchFamily="34" charset="-122"/>
                <a:cs typeface="Calibri" pitchFamily="34" charset="-120"/>
              </a:rPr>
              <a:t>The code runs. Nothing warns you. The number is simply twice as impressive as it deserves to be.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C1B22"/>
        </a:solidFill>
      </p:bgPr>
    </p:bg>
    <p:spTree>
      <p:nvGrpSpPr>
        <p:cNvPr id="1" name=""/>
        <p:cNvGrpSpPr/>
        <p:nvPr/>
      </p:nvGrpSpPr>
      <p:grpSpPr>
        <a:xfrm>
          <a:off x="0" y="0"/>
          <a:ext cx="0" cy="0"/>
          <a:chOff x="0" y="0"/>
          <a:chExt cx="0" cy="0"/>
        </a:xfrm>
      </p:grpSpPr>
      <p:sp>
        <p:nvSpPr>
          <p:cNvPr id="2" name="Text 0"/>
          <p:cNvSpPr/>
          <p:nvPr/>
        </p:nvSpPr>
        <p:spPr>
          <a:xfrm>
            <a:off x="777240" y="2286000"/>
            <a:ext cx="10634472" cy="137160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Part 2 — R</a:t>
            </a:r>
            <a:endParaRPr lang="en-US" sz="4600" dirty="0"/>
          </a:p>
        </p:txBody>
      </p:sp>
      <p:sp>
        <p:nvSpPr>
          <p:cNvPr id="3" name="Text 1"/>
          <p:cNvSpPr/>
          <p:nvPr/>
        </p:nvSpPr>
        <p:spPr>
          <a:xfrm>
            <a:off x="777240" y="3657600"/>
            <a:ext cx="10634472" cy="1463040"/>
          </a:xfrm>
          <a:prstGeom prst="rect">
            <a:avLst/>
          </a:prstGeom>
          <a:noFill/>
          <a:ln/>
        </p:spPr>
        <p:txBody>
          <a:bodyPr wrap="square" rtlCol="0" anchor="ctr"/>
          <a:lstStyle/>
          <a:p>
            <a:pPr indent="0" marL="0">
              <a:lnSpc>
                <a:spcPts val="3000"/>
              </a:lnSpc>
              <a:buNone/>
            </a:pPr>
            <a:r>
              <a:rPr lang="en-US" sz="2000" dirty="0">
                <a:solidFill>
                  <a:srgbClr val="C8C2CE"/>
                </a:solidFill>
                <a:latin typeface="Calibri" pitchFamily="34" charset="0"/>
                <a:ea typeface="Calibri" pitchFamily="34" charset="-122"/>
                <a:cs typeface="Calibri" pitchFamily="34" charset="-120"/>
              </a:rPr>
              <a:t>Statistics, and a figure you'd actually publish</a:t>
            </a:r>
            <a:endParaRPr lang="en-US" sz="2000" dirty="0"/>
          </a:p>
          <a:p>
            <a:pPr indent="0" marL="0">
              <a:lnSpc>
                <a:spcPts val="3000"/>
              </a:lnSpc>
              <a:buNone/>
            </a:pPr>
            <a:endParaRPr lang="en-US" sz="2000" dirty="0"/>
          </a:p>
          <a:p>
            <a:pPr indent="0" marL="0">
              <a:lnSpc>
                <a:spcPts val="3000"/>
              </a:lnSpc>
              <a:buNone/>
            </a:pPr>
            <a:r>
              <a:rPr lang="en-US" sz="2000" dirty="0">
                <a:solidFill>
                  <a:srgbClr val="C8C2CE"/>
                </a:solidFill>
                <a:latin typeface="Calibri" pitchFamily="34" charset="0"/>
                <a:ea typeface="Calibri" pitchFamily="34" charset="-122"/>
                <a:cs typeface="Calibri" pitchFamily="34" charset="-120"/>
              </a:rPr>
              <a:t>50 minutes  ·  02_r_starter.R</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10634472" cy="822960"/>
          </a:xfrm>
          <a:prstGeom prst="rect">
            <a:avLst/>
          </a:prstGeom>
          <a:noFill/>
          <a:ln/>
        </p:spPr>
        <p:txBody>
          <a:bodyPr wrap="square" lIns="0" tIns="0" rIns="0" bIns="0" rtlCol="0" anchor="ctr"/>
          <a:lstStyle/>
          <a:p>
            <a:pPr indent="0" marL="0">
              <a:buNone/>
            </a:pPr>
            <a:r>
              <a:rPr lang="en-US" sz="3400" b="1" dirty="0">
                <a:solidFill>
                  <a:srgbClr val="1C1B22"/>
                </a:solidFill>
                <a:latin typeface="Cambria" pitchFamily="34" charset="0"/>
                <a:ea typeface="Cambria" pitchFamily="34" charset="-122"/>
                <a:cs typeface="Cambria" pitchFamily="34" charset="-120"/>
              </a:rPr>
              <a:t>This is the best thing an AI does for you</a:t>
            </a:r>
            <a:endParaRPr lang="en-US" sz="3400" dirty="0"/>
          </a:p>
        </p:txBody>
      </p:sp>
      <p:pic>
        <p:nvPicPr>
          <p:cNvPr id="4" name="Image 0" descr="outputs/figure1.png">    </p:cNvPr>
          <p:cNvPicPr>
            <a:picLocks noChangeAspect="1"/>
          </p:cNvPicPr>
          <p:nvPr/>
        </p:nvPicPr>
        <p:blipFill>
          <a:blip r:embed="rId1"/>
          <a:stretch>
            <a:fillRect/>
          </a:stretch>
        </p:blipFill>
        <p:spPr>
          <a:xfrm>
            <a:off x="777240" y="1463040"/>
            <a:ext cx="5669280" cy="4050792"/>
          </a:xfrm>
          <a:prstGeom prst="rect">
            <a:avLst/>
          </a:prstGeom>
        </p:spPr>
      </p:pic>
      <p:sp>
        <p:nvSpPr>
          <p:cNvPr id="5" name="Text 1"/>
          <p:cNvSpPr/>
          <p:nvPr/>
        </p:nvSpPr>
        <p:spPr>
          <a:xfrm>
            <a:off x="6903720" y="1737360"/>
            <a:ext cx="4480560" cy="822960"/>
          </a:xfrm>
          <a:prstGeom prst="rect">
            <a:avLst/>
          </a:prstGeom>
          <a:noFill/>
          <a:ln/>
        </p:spPr>
        <p:txBody>
          <a:bodyPr wrap="square" lIns="0" tIns="0" rIns="0" bIns="0" rtlCol="0" anchor="ctr"/>
          <a:lstStyle/>
          <a:p>
            <a:pPr indent="0" marL="0">
              <a:lnSpc>
                <a:spcPts val="2800"/>
              </a:lnSpc>
              <a:buNone/>
            </a:pPr>
            <a:r>
              <a:rPr lang="en-US" sz="2100" b="1" dirty="0">
                <a:solidFill>
                  <a:srgbClr val="1C1B22"/>
                </a:solidFill>
                <a:latin typeface="Cambria" pitchFamily="34" charset="0"/>
                <a:ea typeface="Cambria" pitchFamily="34" charset="-122"/>
                <a:cs typeface="Cambria" pitchFamily="34" charset="-120"/>
              </a:rPr>
              <a:t>Nobody memorises ggplot theme arguments.</a:t>
            </a:r>
            <a:endParaRPr lang="en-US" sz="2100" dirty="0"/>
          </a:p>
        </p:txBody>
      </p:sp>
      <p:sp>
        <p:nvSpPr>
          <p:cNvPr id="6" name="Text 2"/>
          <p:cNvSpPr/>
          <p:nvPr/>
        </p:nvSpPr>
        <p:spPr>
          <a:xfrm>
            <a:off x="6903720" y="2743200"/>
            <a:ext cx="4480560" cy="2926080"/>
          </a:xfrm>
          <a:prstGeom prst="rect">
            <a:avLst/>
          </a:prstGeom>
          <a:noFill/>
          <a:ln/>
        </p:spPr>
        <p:txBody>
          <a:bodyPr wrap="square" lIns="0" tIns="0" rIns="0" bIns="0" rtlCol="0" anchor="ctr"/>
          <a:lstStyle/>
          <a:p>
            <a:pPr indent="0" marL="0">
              <a:lnSpc>
                <a:spcPts val="2100"/>
              </a:lnSpc>
              <a:buNone/>
            </a:pPr>
            <a:r>
              <a:rPr lang="en-US" sz="1400" dirty="0">
                <a:solidFill>
                  <a:srgbClr val="3A3A44"/>
                </a:solidFill>
                <a:latin typeface="Calibri" pitchFamily="34" charset="0"/>
                <a:ea typeface="Calibri" pitchFamily="34" charset="-122"/>
                <a:cs typeface="Calibri" pitchFamily="34" charset="-120"/>
              </a:rPr>
              <a:t>Nobody should. It is pure syntax lookup — high tedium, zero insight, and you'd have spent forty minutes in Stack Overflow for this.</a:t>
            </a:r>
            <a:endParaRPr lang="en-US" sz="1400" dirty="0"/>
          </a:p>
          <a:p>
            <a:pPr indent="0" marL="0">
              <a:lnSpc>
                <a:spcPts val="2100"/>
              </a:lnSpc>
              <a:buNone/>
            </a:pPr>
            <a:endParaRPr lang="en-US" sz="1400" dirty="0"/>
          </a:p>
          <a:p>
            <a:pPr indent="0" marL="0">
              <a:lnSpc>
                <a:spcPts val="2100"/>
              </a:lnSpc>
              <a:buNone/>
            </a:pPr>
            <a:r>
              <a:rPr lang="en-US" sz="1400" dirty="0">
                <a:solidFill>
                  <a:srgbClr val="3A3A44"/>
                </a:solidFill>
                <a:latin typeface="Calibri" pitchFamily="34" charset="0"/>
                <a:ea typeface="Calibri" pitchFamily="34" charset="-122"/>
                <a:cs typeface="Calibri" pitchFamily="34" charset="-120"/>
              </a:rPr>
              <a:t>You describe the figure you want in English. It writes the theme() call. You look at it, you don't like the legend, you say so, it fixes it.</a:t>
            </a:r>
            <a:endParaRPr lang="en-US" sz="1400" dirty="0"/>
          </a:p>
          <a:p>
            <a:pPr indent="0" marL="0">
              <a:lnSpc>
                <a:spcPts val="2100"/>
              </a:lnSpc>
              <a:buNone/>
            </a:pPr>
            <a:endParaRPr lang="en-US" sz="1400" dirty="0"/>
          </a:p>
          <a:p>
            <a:pPr indent="0" marL="0">
              <a:lnSpc>
                <a:spcPts val="2100"/>
              </a:lnSpc>
              <a:buNone/>
            </a:pPr>
            <a:r>
              <a:rPr lang="en-US" sz="1400" dirty="0">
                <a:solidFill>
                  <a:srgbClr val="3A3A44"/>
                </a:solidFill>
                <a:latin typeface="Calibri" pitchFamily="34" charset="0"/>
                <a:ea typeface="Calibri" pitchFamily="34" charset="-122"/>
                <a:cs typeface="Calibri" pitchFamily="34" charset="-120"/>
              </a:rPr>
              <a:t>That loop is the whole job, and it is genuinely, permanently better than what came before.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10634472" cy="822960"/>
          </a:xfrm>
          <a:prstGeom prst="rect">
            <a:avLst/>
          </a:prstGeom>
          <a:noFill/>
          <a:ln/>
        </p:spPr>
        <p:txBody>
          <a:bodyPr wrap="square" lIns="0" tIns="0" rIns="0" bIns="0" rtlCol="0" anchor="ctr"/>
          <a:lstStyle/>
          <a:p>
            <a:pPr indent="0" marL="0">
              <a:buNone/>
            </a:pPr>
            <a:r>
              <a:rPr lang="en-US" sz="3400" b="1" dirty="0">
                <a:solidFill>
                  <a:srgbClr val="1C1B22"/>
                </a:solidFill>
                <a:latin typeface="Cambria" pitchFamily="34" charset="0"/>
                <a:ea typeface="Cambria" pitchFamily="34" charset="-122"/>
                <a:cs typeface="Cambria" pitchFamily="34" charset="-120"/>
              </a:rPr>
              <a:t>Trap 2 — the finding that quietly evaporated</a:t>
            </a:r>
            <a:endParaRPr lang="en-US" sz="3400" dirty="0"/>
          </a:p>
        </p:txBody>
      </p:sp>
      <p:sp>
        <p:nvSpPr>
          <p:cNvPr id="4" name="Shape 1"/>
          <p:cNvSpPr/>
          <p:nvPr/>
        </p:nvSpPr>
        <p:spPr>
          <a:xfrm>
            <a:off x="777240" y="1600200"/>
            <a:ext cx="5029200" cy="2011680"/>
          </a:xfrm>
          <a:prstGeom prst="roundRect">
            <a:avLst>
              <a:gd name="adj" fmla="val 4091"/>
            </a:avLst>
          </a:prstGeom>
          <a:solidFill>
            <a:srgbClr val="F1F7F3"/>
          </a:solidFill>
          <a:ln w="12700">
            <a:solidFill>
              <a:srgbClr val="DEDAE1"/>
            </a:solidFill>
            <a:prstDash val="solid"/>
          </a:ln>
        </p:spPr>
      </p:sp>
      <p:sp>
        <p:nvSpPr>
          <p:cNvPr id="5" name="Text 2"/>
          <p:cNvSpPr/>
          <p:nvPr/>
        </p:nvSpPr>
        <p:spPr>
          <a:xfrm>
            <a:off x="1097280" y="1783080"/>
            <a:ext cx="4389120" cy="320040"/>
          </a:xfrm>
          <a:prstGeom prst="rect">
            <a:avLst/>
          </a:prstGeom>
          <a:noFill/>
          <a:ln/>
        </p:spPr>
        <p:txBody>
          <a:bodyPr wrap="square" lIns="0" tIns="0" rIns="0" bIns="0" rtlCol="0" anchor="ctr"/>
          <a:lstStyle/>
          <a:p>
            <a:pPr indent="0" marL="0">
              <a:buNone/>
            </a:pPr>
            <a:r>
              <a:rPr lang="en-US" sz="1400" b="1" dirty="0">
                <a:solidFill>
                  <a:srgbClr val="4C9F70"/>
                </a:solidFill>
                <a:latin typeface="Calibri" pitchFamily="34" charset="0"/>
                <a:ea typeface="Calibri" pitchFamily="34" charset="-122"/>
                <a:cs typeface="Calibri" pitchFamily="34" charset="-120"/>
              </a:rPr>
              <a:t>On its own</a:t>
            </a:r>
            <a:endParaRPr lang="en-US" sz="1400" dirty="0"/>
          </a:p>
        </p:txBody>
      </p:sp>
      <p:sp>
        <p:nvSpPr>
          <p:cNvPr id="6" name="Text 3"/>
          <p:cNvSpPr/>
          <p:nvPr/>
        </p:nvSpPr>
        <p:spPr>
          <a:xfrm>
            <a:off x="1097280" y="2148840"/>
            <a:ext cx="4572000" cy="320040"/>
          </a:xfrm>
          <a:prstGeom prst="rect">
            <a:avLst/>
          </a:prstGeom>
          <a:noFill/>
          <a:ln/>
        </p:spPr>
        <p:txBody>
          <a:bodyPr wrap="square" lIns="0" tIns="0" rIns="0" bIns="0" rtlCol="0" anchor="ctr"/>
          <a:lstStyle/>
          <a:p>
            <a:pPr indent="0" marL="0">
              <a:buNone/>
            </a:pPr>
            <a:r>
              <a:rPr lang="en-US" sz="1300" dirty="0">
                <a:solidFill>
                  <a:srgbClr val="3A3A44"/>
                </a:solidFill>
                <a:latin typeface="Courier New" pitchFamily="34" charset="0"/>
                <a:ea typeface="Courier New" pitchFamily="34" charset="-122"/>
                <a:cs typeface="Courier New" pitchFamily="34" charset="-120"/>
              </a:rPr>
              <a:t>lm(wab_aq ~ content_word_ratio)</a:t>
            </a:r>
            <a:endParaRPr lang="en-US" sz="1300" dirty="0"/>
          </a:p>
        </p:txBody>
      </p:sp>
      <p:sp>
        <p:nvSpPr>
          <p:cNvPr id="7" name="Text 4"/>
          <p:cNvSpPr/>
          <p:nvPr/>
        </p:nvSpPr>
        <p:spPr>
          <a:xfrm>
            <a:off x="1097280" y="2560320"/>
            <a:ext cx="4389120" cy="822960"/>
          </a:xfrm>
          <a:prstGeom prst="rect">
            <a:avLst/>
          </a:prstGeom>
          <a:noFill/>
          <a:ln/>
        </p:spPr>
        <p:txBody>
          <a:bodyPr wrap="square" lIns="0" tIns="0" rIns="0" bIns="0" rtlCol="0" anchor="ctr"/>
          <a:lstStyle/>
          <a:p>
            <a:pPr indent="0" marL="0">
              <a:buNone/>
            </a:pPr>
            <a:r>
              <a:rPr lang="en-US" sz="4000" b="1" dirty="0">
                <a:solidFill>
                  <a:srgbClr val="4C9F70"/>
                </a:solidFill>
                <a:latin typeface="Cambria" pitchFamily="34" charset="0"/>
                <a:ea typeface="Cambria" pitchFamily="34" charset="-122"/>
                <a:cs typeface="Cambria" pitchFamily="34" charset="-120"/>
              </a:rPr>
              <a:t>p = .004</a:t>
            </a:r>
            <a:endParaRPr lang="en-US" sz="4000" dirty="0"/>
          </a:p>
        </p:txBody>
      </p:sp>
      <p:sp>
        <p:nvSpPr>
          <p:cNvPr id="8" name="Shape 5"/>
          <p:cNvSpPr/>
          <p:nvPr/>
        </p:nvSpPr>
        <p:spPr>
          <a:xfrm>
            <a:off x="6355080" y="1600200"/>
            <a:ext cx="5029200" cy="2011680"/>
          </a:xfrm>
          <a:prstGeom prst="roundRect">
            <a:avLst>
              <a:gd name="adj" fmla="val 4091"/>
            </a:avLst>
          </a:prstGeom>
          <a:solidFill>
            <a:srgbClr val="FBF0F4"/>
          </a:solidFill>
          <a:ln w="12700">
            <a:solidFill>
              <a:srgbClr val="DEDAE1"/>
            </a:solidFill>
            <a:prstDash val="solid"/>
          </a:ln>
        </p:spPr>
      </p:sp>
      <p:sp>
        <p:nvSpPr>
          <p:cNvPr id="9" name="Text 6"/>
          <p:cNvSpPr/>
          <p:nvPr/>
        </p:nvSpPr>
        <p:spPr>
          <a:xfrm>
            <a:off x="6675120" y="1783080"/>
            <a:ext cx="4389120" cy="320040"/>
          </a:xfrm>
          <a:prstGeom prst="rect">
            <a:avLst/>
          </a:prstGeom>
          <a:noFill/>
          <a:ln/>
        </p:spPr>
        <p:txBody>
          <a:bodyPr wrap="square" lIns="0" tIns="0" rIns="0" bIns="0" rtlCol="0" anchor="ctr"/>
          <a:lstStyle/>
          <a:p>
            <a:pPr indent="0" marL="0">
              <a:buNone/>
            </a:pPr>
            <a:r>
              <a:rPr lang="en-US" sz="1400" b="1" dirty="0">
                <a:solidFill>
                  <a:srgbClr val="B5446E"/>
                </a:solidFill>
                <a:latin typeface="Calibri" pitchFamily="34" charset="0"/>
                <a:ea typeface="Calibri" pitchFamily="34" charset="-122"/>
                <a:cs typeface="Calibri" pitchFamily="34" charset="-120"/>
              </a:rPr>
              <a:t>With n_words in the model</a:t>
            </a:r>
            <a:endParaRPr lang="en-US" sz="1400" dirty="0"/>
          </a:p>
        </p:txBody>
      </p:sp>
      <p:sp>
        <p:nvSpPr>
          <p:cNvPr id="10" name="Text 7"/>
          <p:cNvSpPr/>
          <p:nvPr/>
        </p:nvSpPr>
        <p:spPr>
          <a:xfrm>
            <a:off x="6675120" y="2148840"/>
            <a:ext cx="4572000" cy="320040"/>
          </a:xfrm>
          <a:prstGeom prst="rect">
            <a:avLst/>
          </a:prstGeom>
          <a:noFill/>
          <a:ln/>
        </p:spPr>
        <p:txBody>
          <a:bodyPr wrap="square" lIns="0" tIns="0" rIns="0" bIns="0" rtlCol="0" anchor="ctr"/>
          <a:lstStyle/>
          <a:p>
            <a:pPr indent="0" marL="0">
              <a:buNone/>
            </a:pPr>
            <a:r>
              <a:rPr lang="en-US" sz="1300" dirty="0">
                <a:solidFill>
                  <a:srgbClr val="3A3A44"/>
                </a:solidFill>
                <a:latin typeface="Courier New" pitchFamily="34" charset="0"/>
                <a:ea typeface="Courier New" pitchFamily="34" charset="-122"/>
                <a:cs typeface="Courier New" pitchFamily="34" charset="-120"/>
              </a:rPr>
              <a:t>+ type_token_ratio + n_words + age</a:t>
            </a:r>
            <a:endParaRPr lang="en-US" sz="1300" dirty="0"/>
          </a:p>
        </p:txBody>
      </p:sp>
      <p:sp>
        <p:nvSpPr>
          <p:cNvPr id="11" name="Text 8"/>
          <p:cNvSpPr/>
          <p:nvPr/>
        </p:nvSpPr>
        <p:spPr>
          <a:xfrm>
            <a:off x="6675120" y="2560320"/>
            <a:ext cx="4389120" cy="822960"/>
          </a:xfrm>
          <a:prstGeom prst="rect">
            <a:avLst/>
          </a:prstGeom>
          <a:noFill/>
          <a:ln/>
        </p:spPr>
        <p:txBody>
          <a:bodyPr wrap="square" lIns="0" tIns="0" rIns="0" bIns="0" rtlCol="0" anchor="ctr"/>
          <a:lstStyle/>
          <a:p>
            <a:pPr indent="0" marL="0">
              <a:buNone/>
            </a:pPr>
            <a:r>
              <a:rPr lang="en-US" sz="4000" b="1" dirty="0">
                <a:solidFill>
                  <a:srgbClr val="B5446E"/>
                </a:solidFill>
                <a:latin typeface="Cambria" pitchFamily="34" charset="0"/>
                <a:ea typeface="Cambria" pitchFamily="34" charset="-122"/>
                <a:cs typeface="Cambria" pitchFamily="34" charset="-120"/>
              </a:rPr>
              <a:t>p = .055</a:t>
            </a:r>
            <a:endParaRPr lang="en-US" sz="4000" dirty="0"/>
          </a:p>
        </p:txBody>
      </p:sp>
      <p:sp>
        <p:nvSpPr>
          <p:cNvPr id="12" name="Text 9"/>
          <p:cNvSpPr/>
          <p:nvPr/>
        </p:nvSpPr>
        <p:spPr>
          <a:xfrm>
            <a:off x="777240" y="3931920"/>
            <a:ext cx="10607040" cy="457200"/>
          </a:xfrm>
          <a:prstGeom prst="rect">
            <a:avLst/>
          </a:prstGeom>
          <a:noFill/>
          <a:ln/>
        </p:spPr>
        <p:txBody>
          <a:bodyPr wrap="square" lIns="0" tIns="0" rIns="0" bIns="0" rtlCol="0" anchor="ctr"/>
          <a:lstStyle/>
          <a:p>
            <a:pPr indent="0" marL="0">
              <a:buNone/>
            </a:pPr>
            <a:r>
              <a:rPr lang="en-US" sz="2000" b="1" dirty="0">
                <a:solidFill>
                  <a:srgbClr val="1C1B22"/>
                </a:solidFill>
                <a:latin typeface="Cambria" pitchFamily="34" charset="0"/>
                <a:ea typeface="Cambria" pitchFamily="34" charset="-122"/>
                <a:cs typeface="Cambria" pitchFamily="34" charset="-120"/>
              </a:rPr>
              <a:t>Same data. Same variable. Same afternoon.</a:t>
            </a:r>
            <a:endParaRPr lang="en-US" sz="2000" dirty="0"/>
          </a:p>
        </p:txBody>
      </p:sp>
      <p:sp>
        <p:nvSpPr>
          <p:cNvPr id="13" name="Text 10"/>
          <p:cNvSpPr/>
          <p:nvPr/>
        </p:nvSpPr>
        <p:spPr>
          <a:xfrm>
            <a:off x="777240" y="4480560"/>
            <a:ext cx="10607040" cy="1188720"/>
          </a:xfrm>
          <a:prstGeom prst="rect">
            <a:avLst/>
          </a:prstGeom>
          <a:noFill/>
          <a:ln/>
        </p:spPr>
        <p:txBody>
          <a:bodyPr wrap="square" lIns="0" tIns="0" rIns="0" bIns="0" rtlCol="0" anchor="ctr"/>
          <a:lstStyle/>
          <a:p>
            <a:pPr indent="0" marL="0">
              <a:lnSpc>
                <a:spcPts val="2300"/>
              </a:lnSpc>
              <a:buNone/>
            </a:pPr>
            <a:r>
              <a:rPr lang="en-US" sz="1500" dirty="0">
                <a:solidFill>
                  <a:srgbClr val="3A3A44"/>
                </a:solidFill>
                <a:latin typeface="Calibri" pitchFamily="34" charset="0"/>
                <a:ea typeface="Calibri" pitchFamily="34" charset="-122"/>
                <a:cs typeface="Calibri" pitchFamily="34" charset="-120"/>
              </a:rPr>
              <a:t>n_words quietly ate its variance — people who say more say more content words. Both models ran perfectly. Neither printed a warning. Your headline finding became a footnote and the only thing standing between you and reporting the first number is that you happened to look.</a:t>
            </a:r>
            <a:endParaRPr lang="en-US" sz="1500" dirty="0"/>
          </a:p>
        </p:txBody>
      </p:sp>
      <p:sp>
        <p:nvSpPr>
          <p:cNvPr id="14" name="Text 11"/>
          <p:cNvSpPr/>
          <p:nvPr/>
        </p:nvSpPr>
        <p:spPr>
          <a:xfrm>
            <a:off x="777240" y="5715000"/>
            <a:ext cx="10607040" cy="457200"/>
          </a:xfrm>
          <a:prstGeom prst="rect">
            <a:avLst/>
          </a:prstGeom>
          <a:noFill/>
          <a:ln/>
        </p:spPr>
        <p:txBody>
          <a:bodyPr wrap="square" lIns="0" tIns="0" rIns="0" bIns="0" rtlCol="0" anchor="ctr"/>
          <a:lstStyle/>
          <a:p>
            <a:pPr indent="0" marL="0">
              <a:buNone/>
            </a:pPr>
            <a:r>
              <a:rPr lang="en-US" sz="1400" b="1" i="1" dirty="0">
                <a:solidFill>
                  <a:srgbClr val="B5446E"/>
                </a:solidFill>
                <a:latin typeface="Calibri" pitchFamily="34" charset="0"/>
                <a:ea typeface="Calibri" pitchFamily="34" charset="-122"/>
                <a:cs typeface="Calibri" pitchFamily="34" charset="-120"/>
              </a:rPr>
              <a:t>Ask it: "what is this model assuming about my predictors?" It gives a good answer. It just never volunteers one.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10634472" cy="822960"/>
          </a:xfrm>
          <a:prstGeom prst="rect">
            <a:avLst/>
          </a:prstGeom>
          <a:noFill/>
          <a:ln/>
        </p:spPr>
        <p:txBody>
          <a:bodyPr wrap="square" lIns="0" tIns="0" rIns="0" bIns="0" rtlCol="0" anchor="ctr"/>
          <a:lstStyle/>
          <a:p>
            <a:pPr indent="0" marL="0">
              <a:buNone/>
            </a:pPr>
            <a:r>
              <a:rPr lang="en-US" sz="3400" b="1" dirty="0">
                <a:solidFill>
                  <a:srgbClr val="1C1B22"/>
                </a:solidFill>
                <a:latin typeface="Cambria" pitchFamily="34" charset="0"/>
                <a:ea typeface="Cambria" pitchFamily="34" charset="-122"/>
                <a:cs typeface="Cambria" pitchFamily="34" charset="-120"/>
              </a:rPr>
              <a:t>Trap 3 — the wrong model HID a real effect</a:t>
            </a:r>
            <a:endParaRPr lang="en-US" sz="3400" dirty="0"/>
          </a:p>
        </p:txBody>
      </p:sp>
      <p:sp>
        <p:nvSpPr>
          <p:cNvPr id="4" name="Text 1"/>
          <p:cNvSpPr/>
          <p:nvPr/>
        </p:nvSpPr>
        <p:spPr>
          <a:xfrm>
            <a:off x="777240" y="1188720"/>
            <a:ext cx="10607040" cy="365760"/>
          </a:xfrm>
          <a:prstGeom prst="rect">
            <a:avLst/>
          </a:prstGeom>
          <a:noFill/>
          <a:ln/>
        </p:spPr>
        <p:txBody>
          <a:bodyPr wrap="square" lIns="0" tIns="0" rIns="0" bIns="0" rtlCol="0" anchor="ctr"/>
          <a:lstStyle/>
          <a:p>
            <a:pPr indent="0" marL="0">
              <a:buNone/>
            </a:pPr>
            <a:r>
              <a:rPr lang="en-US" sz="1500" i="1" dirty="0">
                <a:solidFill>
                  <a:srgbClr val="6B6B76"/>
                </a:solidFill>
                <a:latin typeface="Calibri" pitchFamily="34" charset="0"/>
                <a:ea typeface="Calibri" pitchFamily="34" charset="-122"/>
                <a:cs typeface="Calibri" pitchFamily="34" charset="-120"/>
              </a:rPr>
              <a:t>30 patients, measured twice. 60 rows — but 30 people.</a:t>
            </a:r>
            <a:endParaRPr lang="en-US" sz="1500" dirty="0"/>
          </a:p>
        </p:txBody>
      </p:sp>
      <p:sp>
        <p:nvSpPr>
          <p:cNvPr id="5" name="Shape 2"/>
          <p:cNvSpPr/>
          <p:nvPr/>
        </p:nvSpPr>
        <p:spPr>
          <a:xfrm>
            <a:off x="777240" y="1691640"/>
            <a:ext cx="5029200" cy="2377440"/>
          </a:xfrm>
          <a:prstGeom prst="roundRect">
            <a:avLst>
              <a:gd name="adj" fmla="val 3462"/>
            </a:avLst>
          </a:prstGeom>
          <a:solidFill>
            <a:srgbClr val="FBF0F4"/>
          </a:solidFill>
          <a:ln w="12700">
            <a:solidFill>
              <a:srgbClr val="DEDAE1"/>
            </a:solidFill>
            <a:prstDash val="solid"/>
          </a:ln>
        </p:spPr>
      </p:sp>
      <p:sp>
        <p:nvSpPr>
          <p:cNvPr id="6" name="Text 3"/>
          <p:cNvSpPr/>
          <p:nvPr/>
        </p:nvSpPr>
        <p:spPr>
          <a:xfrm>
            <a:off x="1097280" y="1874520"/>
            <a:ext cx="4389120" cy="320040"/>
          </a:xfrm>
          <a:prstGeom prst="rect">
            <a:avLst/>
          </a:prstGeom>
          <a:noFill/>
          <a:ln/>
        </p:spPr>
        <p:txBody>
          <a:bodyPr wrap="square" lIns="0" tIns="0" rIns="0" bIns="0" rtlCol="0" anchor="ctr"/>
          <a:lstStyle/>
          <a:p>
            <a:pPr indent="0" marL="0">
              <a:buNone/>
            </a:pPr>
            <a:r>
              <a:rPr lang="en-US" sz="1400" b="1" dirty="0">
                <a:solidFill>
                  <a:srgbClr val="B5446E"/>
                </a:solidFill>
                <a:latin typeface="Calibri" pitchFamily="34" charset="0"/>
                <a:ea typeface="Calibri" pitchFamily="34" charset="-122"/>
                <a:cs typeface="Calibri" pitchFamily="34" charset="-120"/>
              </a:rPr>
              <a:t>The naive model</a:t>
            </a:r>
            <a:endParaRPr lang="en-US" sz="1400" dirty="0"/>
          </a:p>
        </p:txBody>
      </p:sp>
      <p:sp>
        <p:nvSpPr>
          <p:cNvPr id="7" name="Text 4"/>
          <p:cNvSpPr/>
          <p:nvPr/>
        </p:nvSpPr>
        <p:spPr>
          <a:xfrm>
            <a:off x="1097280" y="2240280"/>
            <a:ext cx="4572000" cy="320040"/>
          </a:xfrm>
          <a:prstGeom prst="rect">
            <a:avLst/>
          </a:prstGeom>
          <a:noFill/>
          <a:ln/>
        </p:spPr>
        <p:txBody>
          <a:bodyPr wrap="square" lIns="0" tIns="0" rIns="0" bIns="0" rtlCol="0" anchor="ctr"/>
          <a:lstStyle/>
          <a:p>
            <a:pPr indent="0" marL="0">
              <a:buNone/>
            </a:pPr>
            <a:r>
              <a:rPr lang="en-US" sz="1300" dirty="0">
                <a:solidFill>
                  <a:srgbClr val="3A3A44"/>
                </a:solidFill>
                <a:latin typeface="Courier New" pitchFamily="34" charset="0"/>
                <a:ea typeface="Courier New" pitchFamily="34" charset="-122"/>
                <a:cs typeface="Courier New" pitchFamily="34" charset="-120"/>
              </a:rPr>
              <a:t>lm(wab_aq ~ timepoint)</a:t>
            </a:r>
            <a:endParaRPr lang="en-US" sz="1300" dirty="0"/>
          </a:p>
        </p:txBody>
      </p:sp>
      <p:sp>
        <p:nvSpPr>
          <p:cNvPr id="8" name="Text 5"/>
          <p:cNvSpPr/>
          <p:nvPr/>
        </p:nvSpPr>
        <p:spPr>
          <a:xfrm>
            <a:off x="1097280" y="2651760"/>
            <a:ext cx="4389120" cy="731520"/>
          </a:xfrm>
          <a:prstGeom prst="rect">
            <a:avLst/>
          </a:prstGeom>
          <a:noFill/>
          <a:ln/>
        </p:spPr>
        <p:txBody>
          <a:bodyPr wrap="square" lIns="0" tIns="0" rIns="0" bIns="0" rtlCol="0" anchor="ctr"/>
          <a:lstStyle/>
          <a:p>
            <a:pPr indent="0" marL="0">
              <a:buNone/>
            </a:pPr>
            <a:r>
              <a:rPr lang="en-US" sz="3600" b="1" dirty="0">
                <a:solidFill>
                  <a:srgbClr val="B5446E"/>
                </a:solidFill>
                <a:latin typeface="Cambria" pitchFamily="34" charset="0"/>
                <a:ea typeface="Cambria" pitchFamily="34" charset="-122"/>
                <a:cs typeface="Cambria" pitchFamily="34" charset="-120"/>
              </a:rPr>
              <a:t>p = .056</a:t>
            </a:r>
            <a:endParaRPr lang="en-US" sz="3600" dirty="0"/>
          </a:p>
        </p:txBody>
      </p:sp>
      <p:sp>
        <p:nvSpPr>
          <p:cNvPr id="9" name="Text 6"/>
          <p:cNvSpPr/>
          <p:nvPr/>
        </p:nvSpPr>
        <p:spPr>
          <a:xfrm>
            <a:off x="1097280" y="3429000"/>
            <a:ext cx="4389120" cy="365760"/>
          </a:xfrm>
          <a:prstGeom prst="rect">
            <a:avLst/>
          </a:prstGeom>
          <a:noFill/>
          <a:ln/>
        </p:spPr>
        <p:txBody>
          <a:bodyPr wrap="square" lIns="0" tIns="0" rIns="0" bIns="0" rtlCol="0" anchor="ctr"/>
          <a:lstStyle/>
          <a:p>
            <a:pPr indent="0" marL="0">
              <a:buNone/>
            </a:pPr>
            <a:r>
              <a:rPr lang="en-US" sz="1400" i="1" dirty="0">
                <a:solidFill>
                  <a:srgbClr val="B5446E"/>
                </a:solidFill>
                <a:latin typeface="Calibri" pitchFamily="34" charset="0"/>
                <a:ea typeface="Calibri" pitchFamily="34" charset="-122"/>
                <a:cs typeface="Calibri" pitchFamily="34" charset="-120"/>
              </a:rPr>
              <a:t>"No significant improvement."</a:t>
            </a:r>
            <a:endParaRPr lang="en-US" sz="1400" dirty="0"/>
          </a:p>
        </p:txBody>
      </p:sp>
      <p:sp>
        <p:nvSpPr>
          <p:cNvPr id="10" name="Shape 7"/>
          <p:cNvSpPr/>
          <p:nvPr/>
        </p:nvSpPr>
        <p:spPr>
          <a:xfrm>
            <a:off x="6355080" y="1691640"/>
            <a:ext cx="5029200" cy="2377440"/>
          </a:xfrm>
          <a:prstGeom prst="roundRect">
            <a:avLst>
              <a:gd name="adj" fmla="val 3462"/>
            </a:avLst>
          </a:prstGeom>
          <a:solidFill>
            <a:srgbClr val="F1F7F3"/>
          </a:solidFill>
          <a:ln w="12700">
            <a:solidFill>
              <a:srgbClr val="DEDAE1"/>
            </a:solidFill>
            <a:prstDash val="solid"/>
          </a:ln>
        </p:spPr>
      </p:sp>
      <p:sp>
        <p:nvSpPr>
          <p:cNvPr id="11" name="Text 8"/>
          <p:cNvSpPr/>
          <p:nvPr/>
        </p:nvSpPr>
        <p:spPr>
          <a:xfrm>
            <a:off x="6675120" y="1874520"/>
            <a:ext cx="4389120" cy="320040"/>
          </a:xfrm>
          <a:prstGeom prst="rect">
            <a:avLst/>
          </a:prstGeom>
          <a:noFill/>
          <a:ln/>
        </p:spPr>
        <p:txBody>
          <a:bodyPr wrap="square" lIns="0" tIns="0" rIns="0" bIns="0" rtlCol="0" anchor="ctr"/>
          <a:lstStyle/>
          <a:p>
            <a:pPr indent="0" marL="0">
              <a:buNone/>
            </a:pPr>
            <a:r>
              <a:rPr lang="en-US" sz="1400" b="1" dirty="0">
                <a:solidFill>
                  <a:srgbClr val="4C9F70"/>
                </a:solidFill>
                <a:latin typeface="Calibri" pitchFamily="34" charset="0"/>
                <a:ea typeface="Calibri" pitchFamily="34" charset="-122"/>
                <a:cs typeface="Calibri" pitchFamily="34" charset="-120"/>
              </a:rPr>
              <a:t>The correct model</a:t>
            </a:r>
            <a:endParaRPr lang="en-US" sz="1400" dirty="0"/>
          </a:p>
        </p:txBody>
      </p:sp>
      <p:sp>
        <p:nvSpPr>
          <p:cNvPr id="12" name="Text 9"/>
          <p:cNvSpPr/>
          <p:nvPr/>
        </p:nvSpPr>
        <p:spPr>
          <a:xfrm>
            <a:off x="6675120" y="2240280"/>
            <a:ext cx="4572000" cy="320040"/>
          </a:xfrm>
          <a:prstGeom prst="rect">
            <a:avLst/>
          </a:prstGeom>
          <a:noFill/>
          <a:ln/>
        </p:spPr>
        <p:txBody>
          <a:bodyPr wrap="square" lIns="0" tIns="0" rIns="0" bIns="0" rtlCol="0" anchor="ctr"/>
          <a:lstStyle/>
          <a:p>
            <a:pPr indent="0" marL="0">
              <a:buNone/>
            </a:pPr>
            <a:r>
              <a:rPr lang="en-US" sz="1300" dirty="0">
                <a:solidFill>
                  <a:srgbClr val="3A3A44"/>
                </a:solidFill>
                <a:latin typeface="Courier New" pitchFamily="34" charset="0"/>
                <a:ea typeface="Courier New" pitchFamily="34" charset="-122"/>
                <a:cs typeface="Courier New" pitchFamily="34" charset="-120"/>
              </a:rPr>
              <a:t>lmer(wab_aq ~ timepoint + (1|id))</a:t>
            </a:r>
            <a:endParaRPr lang="en-US" sz="1300" dirty="0"/>
          </a:p>
        </p:txBody>
      </p:sp>
      <p:sp>
        <p:nvSpPr>
          <p:cNvPr id="13" name="Text 10"/>
          <p:cNvSpPr/>
          <p:nvPr/>
        </p:nvSpPr>
        <p:spPr>
          <a:xfrm>
            <a:off x="6675120" y="2651760"/>
            <a:ext cx="4389120" cy="731520"/>
          </a:xfrm>
          <a:prstGeom prst="rect">
            <a:avLst/>
          </a:prstGeom>
          <a:noFill/>
          <a:ln/>
        </p:spPr>
        <p:txBody>
          <a:bodyPr wrap="square" lIns="0" tIns="0" rIns="0" bIns="0" rtlCol="0" anchor="ctr"/>
          <a:lstStyle/>
          <a:p>
            <a:pPr indent="0" marL="0">
              <a:buNone/>
            </a:pPr>
            <a:r>
              <a:rPr lang="en-US" sz="3600" b="1" dirty="0">
                <a:solidFill>
                  <a:srgbClr val="4C9F70"/>
                </a:solidFill>
                <a:latin typeface="Cambria" pitchFamily="34" charset="0"/>
                <a:ea typeface="Cambria" pitchFamily="34" charset="-122"/>
                <a:cs typeface="Cambria" pitchFamily="34" charset="-120"/>
              </a:rPr>
              <a:t>t = 5.2</a:t>
            </a:r>
            <a:endParaRPr lang="en-US" sz="3600" dirty="0"/>
          </a:p>
        </p:txBody>
      </p:sp>
      <p:sp>
        <p:nvSpPr>
          <p:cNvPr id="14" name="Text 11"/>
          <p:cNvSpPr/>
          <p:nvPr/>
        </p:nvSpPr>
        <p:spPr>
          <a:xfrm>
            <a:off x="6675120" y="3429000"/>
            <a:ext cx="4389120" cy="365760"/>
          </a:xfrm>
          <a:prstGeom prst="rect">
            <a:avLst/>
          </a:prstGeom>
          <a:noFill/>
          <a:ln/>
        </p:spPr>
        <p:txBody>
          <a:bodyPr wrap="square" lIns="0" tIns="0" rIns="0" bIns="0" rtlCol="0" anchor="ctr"/>
          <a:lstStyle/>
          <a:p>
            <a:pPr indent="0" marL="0">
              <a:buNone/>
            </a:pPr>
            <a:r>
              <a:rPr lang="en-US" sz="1400" i="1" dirty="0">
                <a:solidFill>
                  <a:srgbClr val="4C9F70"/>
                </a:solidFill>
                <a:latin typeface="Calibri" pitchFamily="34" charset="0"/>
                <a:ea typeface="Calibri" pitchFamily="34" charset="-122"/>
                <a:cs typeface="Calibri" pitchFamily="34" charset="-120"/>
              </a:rPr>
              <a:t>+7.1 WAB points. Clear recovery.</a:t>
            </a:r>
            <a:endParaRPr lang="en-US" sz="1400" dirty="0"/>
          </a:p>
        </p:txBody>
      </p:sp>
      <p:sp>
        <p:nvSpPr>
          <p:cNvPr id="15" name="Text 12"/>
          <p:cNvSpPr/>
          <p:nvPr/>
        </p:nvSpPr>
        <p:spPr>
          <a:xfrm>
            <a:off x="777240" y="4434840"/>
            <a:ext cx="10607040" cy="548640"/>
          </a:xfrm>
          <a:prstGeom prst="rect">
            <a:avLst/>
          </a:prstGeom>
          <a:noFill/>
          <a:ln/>
        </p:spPr>
        <p:txBody>
          <a:bodyPr wrap="square" lIns="0" tIns="0" rIns="0" bIns="0" rtlCol="0" anchor="ctr"/>
          <a:lstStyle/>
          <a:p>
            <a:pPr indent="0" marL="0">
              <a:buNone/>
            </a:pPr>
            <a:r>
              <a:rPr lang="en-US" sz="2400" b="1" dirty="0">
                <a:solidFill>
                  <a:srgbClr val="1C1B22"/>
                </a:solidFill>
                <a:latin typeface="Cambria" pitchFamily="34" charset="0"/>
                <a:ea typeface="Cambria" pitchFamily="34" charset="-122"/>
                <a:cs typeface="Cambria" pitchFamily="34" charset="-120"/>
              </a:rPr>
              <a:t>The wrong model didn't invent an effect. It hid one.</a:t>
            </a:r>
            <a:endParaRPr lang="en-US" sz="2400" dirty="0"/>
          </a:p>
        </p:txBody>
      </p:sp>
      <p:sp>
        <p:nvSpPr>
          <p:cNvPr id="16" name="Text 13"/>
          <p:cNvSpPr/>
          <p:nvPr/>
        </p:nvSpPr>
        <p:spPr>
          <a:xfrm>
            <a:off x="777240" y="5029200"/>
            <a:ext cx="10607040" cy="1005840"/>
          </a:xfrm>
          <a:prstGeom prst="rect">
            <a:avLst/>
          </a:prstGeom>
          <a:noFill/>
          <a:ln/>
        </p:spPr>
        <p:txBody>
          <a:bodyPr wrap="square" lIns="0" tIns="0" rIns="0" bIns="0" rtlCol="0" anchor="ctr"/>
          <a:lstStyle/>
          <a:p>
            <a:pPr indent="0" marL="0">
              <a:lnSpc>
                <a:spcPts val="2300"/>
              </a:lnSpc>
              <a:buNone/>
            </a:pPr>
            <a:r>
              <a:rPr lang="en-US" sz="1500" dirty="0">
                <a:solidFill>
                  <a:srgbClr val="3A3A44"/>
                </a:solidFill>
                <a:latin typeface="Calibri" pitchFamily="34" charset="0"/>
                <a:ea typeface="Calibri" pitchFamily="34" charset="-122"/>
                <a:cs typeface="Calibri" pitchFamily="34" charset="-120"/>
              </a:rPr>
              <a:t>Throwing away the pairing threw away the power to see a real recovery. You'd have written "no significant improvement" in a grant, and you'd have been wrong — and the code would have run beautifully the entire time.</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10634472" cy="822960"/>
          </a:xfrm>
          <a:prstGeom prst="rect">
            <a:avLst/>
          </a:prstGeom>
          <a:noFill/>
          <a:ln/>
        </p:spPr>
        <p:txBody>
          <a:bodyPr wrap="square" lIns="0" tIns="0" rIns="0" bIns="0" rtlCol="0" anchor="ctr"/>
          <a:lstStyle/>
          <a:p>
            <a:pPr indent="0" marL="0">
              <a:buNone/>
            </a:pPr>
            <a:r>
              <a:rPr lang="en-US" sz="3400" b="1" dirty="0">
                <a:solidFill>
                  <a:srgbClr val="1C1B22"/>
                </a:solidFill>
                <a:latin typeface="Cambria" pitchFamily="34" charset="0"/>
                <a:ea typeface="Cambria" pitchFamily="34" charset="-122"/>
                <a:cs typeface="Cambria" pitchFamily="34" charset="-120"/>
              </a:rPr>
              <a:t>The fact-check</a:t>
            </a:r>
            <a:endParaRPr lang="en-US" sz="3400" dirty="0"/>
          </a:p>
        </p:txBody>
      </p:sp>
      <p:sp>
        <p:nvSpPr>
          <p:cNvPr id="4" name="Shape 1"/>
          <p:cNvSpPr/>
          <p:nvPr/>
        </p:nvSpPr>
        <p:spPr>
          <a:xfrm>
            <a:off x="777240" y="1554480"/>
            <a:ext cx="10607040" cy="1051560"/>
          </a:xfrm>
          <a:prstGeom prst="roundRect">
            <a:avLst>
              <a:gd name="adj" fmla="val 7826"/>
            </a:avLst>
          </a:prstGeom>
          <a:solidFill>
            <a:srgbClr val="1C1B22"/>
          </a:solidFill>
          <a:ln w="12700">
            <a:solidFill>
              <a:srgbClr val="DEDAE1"/>
            </a:solidFill>
            <a:prstDash val="solid"/>
          </a:ln>
        </p:spPr>
      </p:sp>
      <p:sp>
        <p:nvSpPr>
          <p:cNvPr id="5" name="Text 2"/>
          <p:cNvSpPr/>
          <p:nvPr/>
        </p:nvSpPr>
        <p:spPr>
          <a:xfrm>
            <a:off x="1143000" y="1554480"/>
            <a:ext cx="9875520" cy="1051560"/>
          </a:xfrm>
          <a:prstGeom prst="rect">
            <a:avLst/>
          </a:prstGeom>
          <a:noFill/>
          <a:ln/>
        </p:spPr>
        <p:txBody>
          <a:bodyPr wrap="square" lIns="0" tIns="0" rIns="0" bIns="0" rtlCol="0" anchor="ctr"/>
          <a:lstStyle/>
          <a:p>
            <a:pPr indent="0" marL="0">
              <a:buNone/>
            </a:pPr>
            <a:r>
              <a:rPr lang="en-US" sz="1900" dirty="0">
                <a:solidFill>
                  <a:srgbClr val="FFFFFF"/>
                </a:solidFill>
                <a:latin typeface="Courier New" pitchFamily="34" charset="0"/>
                <a:ea typeface="Courier New" pitchFamily="34" charset="-122"/>
                <a:cs typeface="Courier New" pitchFamily="34" charset="-120"/>
              </a:rPr>
              <a:t>"Write the Results paragraph for my model in APA style."</a:t>
            </a:r>
            <a:endParaRPr lang="en-US" sz="1900" dirty="0"/>
          </a:p>
        </p:txBody>
      </p:sp>
      <p:sp>
        <p:nvSpPr>
          <p:cNvPr id="6" name="Text 3"/>
          <p:cNvSpPr/>
          <p:nvPr/>
        </p:nvSpPr>
        <p:spPr>
          <a:xfrm>
            <a:off x="777240" y="2834640"/>
            <a:ext cx="10607040" cy="411480"/>
          </a:xfrm>
          <a:prstGeom prst="rect">
            <a:avLst/>
          </a:prstGeom>
          <a:noFill/>
          <a:ln/>
        </p:spPr>
        <p:txBody>
          <a:bodyPr wrap="square" lIns="0" tIns="0" rIns="0" bIns="0" rtlCol="0" anchor="ctr"/>
          <a:lstStyle/>
          <a:p>
            <a:pPr indent="0" marL="0">
              <a:buNone/>
            </a:pPr>
            <a:r>
              <a:rPr lang="en-US" sz="1600" b="1" dirty="0">
                <a:solidFill>
                  <a:srgbClr val="1C1B22"/>
                </a:solidFill>
                <a:latin typeface="Calibri" pitchFamily="34" charset="0"/>
                <a:ea typeface="Calibri" pitchFamily="34" charset="-122"/>
                <a:cs typeface="Calibri" pitchFamily="34" charset="-120"/>
              </a:rPr>
              <a:t>Now check every number against tidy(m1), glance(m1), nobs(m1). Line by line. Out loud.</a:t>
            </a:r>
            <a:endParaRPr lang="en-US" sz="1600" dirty="0"/>
          </a:p>
        </p:txBody>
      </p:sp>
      <p:sp>
        <p:nvSpPr>
          <p:cNvPr id="7" name="Shape 4"/>
          <p:cNvSpPr/>
          <p:nvPr/>
        </p:nvSpPr>
        <p:spPr>
          <a:xfrm>
            <a:off x="822960" y="3511296"/>
            <a:ext cx="182880" cy="182880"/>
          </a:xfrm>
          <a:prstGeom prst="ellipse">
            <a:avLst/>
          </a:prstGeom>
          <a:solidFill>
            <a:srgbClr val="B5446E"/>
          </a:solidFill>
          <a:ln/>
        </p:spPr>
      </p:sp>
      <p:sp>
        <p:nvSpPr>
          <p:cNvPr id="8" name="Text 5"/>
          <p:cNvSpPr/>
          <p:nvPr/>
        </p:nvSpPr>
        <p:spPr>
          <a:xfrm>
            <a:off x="1188720" y="3429000"/>
            <a:ext cx="10058400" cy="365760"/>
          </a:xfrm>
          <a:prstGeom prst="rect">
            <a:avLst/>
          </a:prstGeom>
          <a:noFill/>
          <a:ln/>
        </p:spPr>
        <p:txBody>
          <a:bodyPr wrap="square" lIns="0" tIns="0" rIns="0" bIns="0" rtlCol="0" anchor="ctr"/>
          <a:lstStyle/>
          <a:p>
            <a:pPr indent="0" marL="0">
              <a:buNone/>
            </a:pPr>
            <a:r>
              <a:rPr lang="en-US" sz="1500" dirty="0">
                <a:solidFill>
                  <a:srgbClr val="3A3A44"/>
                </a:solidFill>
                <a:latin typeface="Calibri" pitchFamily="34" charset="0"/>
                <a:ea typeface="Calibri" pitchFamily="34" charset="-122"/>
                <a:cs typeface="Calibri" pitchFamily="34" charset="-120"/>
              </a:rPr>
              <a:t>A degrees-of-freedom value that appears nowhere in your output</a:t>
            </a:r>
            <a:endParaRPr lang="en-US" sz="1500" dirty="0"/>
          </a:p>
        </p:txBody>
      </p:sp>
      <p:sp>
        <p:nvSpPr>
          <p:cNvPr id="9" name="Shape 6"/>
          <p:cNvSpPr/>
          <p:nvPr/>
        </p:nvSpPr>
        <p:spPr>
          <a:xfrm>
            <a:off x="822960" y="4059936"/>
            <a:ext cx="182880" cy="182880"/>
          </a:xfrm>
          <a:prstGeom prst="ellipse">
            <a:avLst/>
          </a:prstGeom>
          <a:solidFill>
            <a:srgbClr val="B5446E"/>
          </a:solidFill>
          <a:ln/>
        </p:spPr>
      </p:sp>
      <p:sp>
        <p:nvSpPr>
          <p:cNvPr id="10" name="Text 7"/>
          <p:cNvSpPr/>
          <p:nvPr/>
        </p:nvSpPr>
        <p:spPr>
          <a:xfrm>
            <a:off x="1188720" y="3977640"/>
            <a:ext cx="10058400" cy="365760"/>
          </a:xfrm>
          <a:prstGeom prst="rect">
            <a:avLst/>
          </a:prstGeom>
          <a:noFill/>
          <a:ln/>
        </p:spPr>
        <p:txBody>
          <a:bodyPr wrap="square" lIns="0" tIns="0" rIns="0" bIns="0" rtlCol="0" anchor="ctr"/>
          <a:lstStyle/>
          <a:p>
            <a:pPr indent="0" marL="0">
              <a:buNone/>
            </a:pPr>
            <a:r>
              <a:rPr lang="en-US" sz="1500" dirty="0">
                <a:solidFill>
                  <a:srgbClr val="3A3A44"/>
                </a:solidFill>
                <a:latin typeface="Calibri" pitchFamily="34" charset="0"/>
                <a:ea typeface="Calibri" pitchFamily="34" charset="-122"/>
                <a:cs typeface="Calibri" pitchFamily="34" charset="-120"/>
              </a:rPr>
              <a:t>A predictor called "significant" at p = .055</a:t>
            </a:r>
            <a:endParaRPr lang="en-US" sz="1500" dirty="0"/>
          </a:p>
        </p:txBody>
      </p:sp>
      <p:sp>
        <p:nvSpPr>
          <p:cNvPr id="11" name="Shape 8"/>
          <p:cNvSpPr/>
          <p:nvPr/>
        </p:nvSpPr>
        <p:spPr>
          <a:xfrm>
            <a:off x="822960" y="4608576"/>
            <a:ext cx="182880" cy="182880"/>
          </a:xfrm>
          <a:prstGeom prst="ellipse">
            <a:avLst/>
          </a:prstGeom>
          <a:solidFill>
            <a:srgbClr val="B5446E"/>
          </a:solidFill>
          <a:ln/>
        </p:spPr>
      </p:sp>
      <p:sp>
        <p:nvSpPr>
          <p:cNvPr id="12" name="Text 9"/>
          <p:cNvSpPr/>
          <p:nvPr/>
        </p:nvSpPr>
        <p:spPr>
          <a:xfrm>
            <a:off x="1188720" y="4526280"/>
            <a:ext cx="10058400" cy="365760"/>
          </a:xfrm>
          <a:prstGeom prst="rect">
            <a:avLst/>
          </a:prstGeom>
          <a:noFill/>
          <a:ln/>
        </p:spPr>
        <p:txBody>
          <a:bodyPr wrap="square" lIns="0" tIns="0" rIns="0" bIns="0" rtlCol="0" anchor="ctr"/>
          <a:lstStyle/>
          <a:p>
            <a:pPr indent="0" marL="0">
              <a:buNone/>
            </a:pPr>
            <a:r>
              <a:rPr lang="en-US" sz="1500" dirty="0">
                <a:solidFill>
                  <a:srgbClr val="3A3A44"/>
                </a:solidFill>
                <a:latin typeface="Calibri" pitchFamily="34" charset="0"/>
                <a:ea typeface="Calibri" pitchFamily="34" charset="-122"/>
                <a:cs typeface="Calibri" pitchFamily="34" charset="-120"/>
              </a:rPr>
              <a:t>A coefficient reported with the sign flipped</a:t>
            </a:r>
            <a:endParaRPr lang="en-US" sz="1500" dirty="0"/>
          </a:p>
        </p:txBody>
      </p:sp>
      <p:sp>
        <p:nvSpPr>
          <p:cNvPr id="13" name="Shape 10"/>
          <p:cNvSpPr/>
          <p:nvPr/>
        </p:nvSpPr>
        <p:spPr>
          <a:xfrm>
            <a:off x="822960" y="5157216"/>
            <a:ext cx="182880" cy="182880"/>
          </a:xfrm>
          <a:prstGeom prst="ellipse">
            <a:avLst/>
          </a:prstGeom>
          <a:solidFill>
            <a:srgbClr val="B5446E"/>
          </a:solidFill>
          <a:ln/>
        </p:spPr>
      </p:sp>
      <p:sp>
        <p:nvSpPr>
          <p:cNvPr id="14" name="Text 11"/>
          <p:cNvSpPr/>
          <p:nvPr/>
        </p:nvSpPr>
        <p:spPr>
          <a:xfrm>
            <a:off x="1188720" y="5074920"/>
            <a:ext cx="10058400" cy="365760"/>
          </a:xfrm>
          <a:prstGeom prst="rect">
            <a:avLst/>
          </a:prstGeom>
          <a:noFill/>
          <a:ln/>
        </p:spPr>
        <p:txBody>
          <a:bodyPr wrap="square" lIns="0" tIns="0" rIns="0" bIns="0" rtlCol="0" anchor="ctr"/>
          <a:lstStyle/>
          <a:p>
            <a:pPr indent="0" marL="0">
              <a:buNone/>
            </a:pPr>
            <a:r>
              <a:rPr lang="en-US" sz="1500" dirty="0">
                <a:solidFill>
                  <a:srgbClr val="3A3A44"/>
                </a:solidFill>
                <a:latin typeface="Calibri" pitchFamily="34" charset="0"/>
                <a:ea typeface="Calibri" pitchFamily="34" charset="-122"/>
                <a:cs typeface="Calibri" pitchFamily="34" charset="-120"/>
              </a:rPr>
              <a:t>An R² or an F statistic it never actually saw</a:t>
            </a:r>
            <a:endParaRPr lang="en-US" sz="1500" dirty="0"/>
          </a:p>
        </p:txBody>
      </p:sp>
      <p:sp>
        <p:nvSpPr>
          <p:cNvPr id="15" name="Text 12"/>
          <p:cNvSpPr/>
          <p:nvPr/>
        </p:nvSpPr>
        <p:spPr>
          <a:xfrm>
            <a:off x="777240" y="5715000"/>
            <a:ext cx="10607040" cy="548640"/>
          </a:xfrm>
          <a:prstGeom prst="rect">
            <a:avLst/>
          </a:prstGeom>
          <a:noFill/>
          <a:ln/>
        </p:spPr>
        <p:txBody>
          <a:bodyPr wrap="square" lIns="0" tIns="0" rIns="0" bIns="0" rtlCol="0" anchor="ctr"/>
          <a:lstStyle/>
          <a:p>
            <a:pPr indent="0" marL="0">
              <a:lnSpc>
                <a:spcPts val="2200"/>
              </a:lnSpc>
              <a:buNone/>
            </a:pPr>
            <a:r>
              <a:rPr lang="en-US" sz="1500" b="1" i="1" dirty="0">
                <a:solidFill>
                  <a:srgbClr val="B5446E"/>
                </a:solidFill>
                <a:latin typeface="Calibri" pitchFamily="34" charset="0"/>
                <a:ea typeface="Calibri" pitchFamily="34" charset="-122"/>
                <a:cs typeface="Calibri" pitchFamily="34" charset="-120"/>
              </a:rPr>
              <a:t>It will write a better paragraph than you would have. And it will lie in it. Both of those are true, and you have to hold both.</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10634472" cy="822960"/>
          </a:xfrm>
          <a:prstGeom prst="rect">
            <a:avLst/>
          </a:prstGeom>
          <a:noFill/>
          <a:ln/>
        </p:spPr>
        <p:txBody>
          <a:bodyPr wrap="square" lIns="0" tIns="0" rIns="0" bIns="0" rtlCol="0" anchor="ctr"/>
          <a:lstStyle/>
          <a:p>
            <a:pPr indent="0" marL="0">
              <a:buNone/>
            </a:pPr>
            <a:r>
              <a:rPr lang="en-US" sz="3400" b="1" dirty="0">
                <a:solidFill>
                  <a:srgbClr val="1C1B22"/>
                </a:solidFill>
                <a:latin typeface="Cambria" pitchFamily="34" charset="0"/>
                <a:ea typeface="Cambria" pitchFamily="34" charset="-122"/>
                <a:cs typeface="Cambria" pitchFamily="34" charset="-120"/>
              </a:rPr>
              <a:t>The five it gets wrong, in order of frequency</a:t>
            </a:r>
            <a:endParaRPr lang="en-US" sz="3400" dirty="0"/>
          </a:p>
        </p:txBody>
      </p:sp>
      <p:sp>
        <p:nvSpPr>
          <p:cNvPr id="4" name="Shape 1"/>
          <p:cNvSpPr/>
          <p:nvPr/>
        </p:nvSpPr>
        <p:spPr>
          <a:xfrm>
            <a:off x="777240" y="1463040"/>
            <a:ext cx="10607040" cy="841248"/>
          </a:xfrm>
          <a:prstGeom prst="roundRect">
            <a:avLst>
              <a:gd name="adj" fmla="val 9783"/>
            </a:avLst>
          </a:prstGeom>
          <a:solidFill>
            <a:srgbClr val="FFFFFF"/>
          </a:solidFill>
          <a:ln w="12700">
            <a:solidFill>
              <a:srgbClr val="DEDAE1"/>
            </a:solidFill>
            <a:prstDash val="solid"/>
          </a:ln>
        </p:spPr>
      </p:sp>
      <p:sp>
        <p:nvSpPr>
          <p:cNvPr id="5" name="Shape 2"/>
          <p:cNvSpPr/>
          <p:nvPr/>
        </p:nvSpPr>
        <p:spPr>
          <a:xfrm>
            <a:off x="960120" y="1691640"/>
            <a:ext cx="384048" cy="384048"/>
          </a:xfrm>
          <a:prstGeom prst="ellipse">
            <a:avLst/>
          </a:prstGeom>
          <a:solidFill>
            <a:srgbClr val="B5446E"/>
          </a:solidFill>
          <a:ln/>
        </p:spPr>
      </p:sp>
      <p:sp>
        <p:nvSpPr>
          <p:cNvPr id="6" name="Text 3"/>
          <p:cNvSpPr/>
          <p:nvPr/>
        </p:nvSpPr>
        <p:spPr>
          <a:xfrm>
            <a:off x="960120" y="16916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4"/>
          <p:cNvSpPr/>
          <p:nvPr/>
        </p:nvSpPr>
        <p:spPr>
          <a:xfrm>
            <a:off x="1527048" y="1517904"/>
            <a:ext cx="2743200" cy="365760"/>
          </a:xfrm>
          <a:prstGeom prst="rect">
            <a:avLst/>
          </a:prstGeom>
          <a:noFill/>
          <a:ln/>
        </p:spPr>
        <p:txBody>
          <a:bodyPr wrap="square" lIns="0" tIns="0" rIns="0" bIns="0" rtlCol="0" anchor="ctr"/>
          <a:lstStyle/>
          <a:p>
            <a:pPr indent="0" marL="0">
              <a:buNone/>
            </a:pPr>
            <a:r>
              <a:rPr lang="en-US" sz="1400" b="1" dirty="0">
                <a:solidFill>
                  <a:srgbClr val="1C1B22"/>
                </a:solidFill>
                <a:latin typeface="Calibri" pitchFamily="34" charset="0"/>
                <a:ea typeface="Calibri" pitchFamily="34" charset="-122"/>
                <a:cs typeface="Calibri" pitchFamily="34" charset="-120"/>
              </a:rPr>
              <a:t>Hallucinated functions</a:t>
            </a:r>
            <a:endParaRPr lang="en-US" sz="1400" dirty="0"/>
          </a:p>
        </p:txBody>
      </p:sp>
      <p:sp>
        <p:nvSpPr>
          <p:cNvPr id="8" name="Text 5"/>
          <p:cNvSpPr/>
          <p:nvPr/>
        </p:nvSpPr>
        <p:spPr>
          <a:xfrm>
            <a:off x="1527048" y="1865376"/>
            <a:ext cx="4754880" cy="384048"/>
          </a:xfrm>
          <a:prstGeom prst="rect">
            <a:avLst/>
          </a:prstGeom>
          <a:noFill/>
          <a:ln/>
        </p:spPr>
        <p:txBody>
          <a:bodyPr wrap="square" lIns="0" tIns="0" rIns="0" bIns="0" rtlCol="0" anchor="ctr"/>
          <a:lstStyle/>
          <a:p>
            <a:pPr indent="0" marL="0">
              <a:buNone/>
            </a:pPr>
            <a:r>
              <a:rPr lang="en-US" sz="1200" dirty="0">
                <a:solidFill>
                  <a:srgbClr val="6B6B76"/>
                </a:solidFill>
                <a:latin typeface="Calibri" pitchFamily="34" charset="0"/>
                <a:ea typeface="Calibri" pitchFamily="34" charset="-122"/>
                <a:cs typeface="Calibri" pitchFamily="34" charset="-120"/>
              </a:rPr>
              <a:t>Confidently calls tidystats::auto_model(). No such thing exists.</a:t>
            </a:r>
            <a:endParaRPr lang="en-US" sz="1200" dirty="0"/>
          </a:p>
        </p:txBody>
      </p:sp>
      <p:sp>
        <p:nvSpPr>
          <p:cNvPr id="9" name="Text 6"/>
          <p:cNvSpPr/>
          <p:nvPr/>
        </p:nvSpPr>
        <p:spPr>
          <a:xfrm>
            <a:off x="6537960" y="1463040"/>
            <a:ext cx="4663440" cy="841248"/>
          </a:xfrm>
          <a:prstGeom prst="rect">
            <a:avLst/>
          </a:prstGeom>
          <a:noFill/>
          <a:ln/>
        </p:spPr>
        <p:txBody>
          <a:bodyPr wrap="square" lIns="0" tIns="0" rIns="0" bIns="0" rtlCol="0" anchor="ctr"/>
          <a:lstStyle/>
          <a:p>
            <a:pPr indent="0" marL="0">
              <a:buNone/>
            </a:pPr>
            <a:r>
              <a:rPr lang="en-US" sz="1200" dirty="0">
                <a:solidFill>
                  <a:srgbClr val="3A3A44"/>
                </a:solidFill>
                <a:latin typeface="Courier New" pitchFamily="34" charset="0"/>
                <a:ea typeface="Courier New" pitchFamily="34" charset="-122"/>
                <a:cs typeface="Courier New" pitchFamily="34" charset="-120"/>
              </a:rPr>
              <a:t>"Is this package real? Show me the docs."</a:t>
            </a:r>
            <a:endParaRPr lang="en-US" sz="1200" dirty="0"/>
          </a:p>
        </p:txBody>
      </p:sp>
      <p:sp>
        <p:nvSpPr>
          <p:cNvPr id="10" name="Shape 7"/>
          <p:cNvSpPr/>
          <p:nvPr/>
        </p:nvSpPr>
        <p:spPr>
          <a:xfrm>
            <a:off x="777240" y="2404872"/>
            <a:ext cx="10607040" cy="841248"/>
          </a:xfrm>
          <a:prstGeom prst="roundRect">
            <a:avLst>
              <a:gd name="adj" fmla="val 9783"/>
            </a:avLst>
          </a:prstGeom>
          <a:solidFill>
            <a:srgbClr val="F4F2F5"/>
          </a:solidFill>
          <a:ln w="12700">
            <a:solidFill>
              <a:srgbClr val="DEDAE1"/>
            </a:solidFill>
            <a:prstDash val="solid"/>
          </a:ln>
        </p:spPr>
      </p:sp>
      <p:sp>
        <p:nvSpPr>
          <p:cNvPr id="11" name="Shape 8"/>
          <p:cNvSpPr/>
          <p:nvPr/>
        </p:nvSpPr>
        <p:spPr>
          <a:xfrm>
            <a:off x="960120" y="2633472"/>
            <a:ext cx="384048" cy="384048"/>
          </a:xfrm>
          <a:prstGeom prst="ellipse">
            <a:avLst/>
          </a:prstGeom>
          <a:solidFill>
            <a:srgbClr val="B5446E"/>
          </a:solidFill>
          <a:ln/>
        </p:spPr>
      </p:sp>
      <p:sp>
        <p:nvSpPr>
          <p:cNvPr id="12" name="Text 9"/>
          <p:cNvSpPr/>
          <p:nvPr/>
        </p:nvSpPr>
        <p:spPr>
          <a:xfrm>
            <a:off x="960120" y="26334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0"/>
          <p:cNvSpPr/>
          <p:nvPr/>
        </p:nvSpPr>
        <p:spPr>
          <a:xfrm>
            <a:off x="1527048" y="2459736"/>
            <a:ext cx="2743200" cy="365760"/>
          </a:xfrm>
          <a:prstGeom prst="rect">
            <a:avLst/>
          </a:prstGeom>
          <a:noFill/>
          <a:ln/>
        </p:spPr>
        <p:txBody>
          <a:bodyPr wrap="square" lIns="0" tIns="0" rIns="0" bIns="0" rtlCol="0" anchor="ctr"/>
          <a:lstStyle/>
          <a:p>
            <a:pPr indent="0" marL="0">
              <a:buNone/>
            </a:pPr>
            <a:r>
              <a:rPr lang="en-US" sz="1400" b="1" dirty="0">
                <a:solidFill>
                  <a:srgbClr val="1C1B22"/>
                </a:solidFill>
                <a:latin typeface="Calibri" pitchFamily="34" charset="0"/>
                <a:ea typeface="Calibri" pitchFamily="34" charset="-122"/>
                <a:cs typeface="Calibri" pitchFamily="34" charset="-120"/>
              </a:rPr>
              <a:t>Wrong test for your design</a:t>
            </a:r>
            <a:endParaRPr lang="en-US" sz="1400" dirty="0"/>
          </a:p>
        </p:txBody>
      </p:sp>
      <p:sp>
        <p:nvSpPr>
          <p:cNvPr id="14" name="Text 11"/>
          <p:cNvSpPr/>
          <p:nvPr/>
        </p:nvSpPr>
        <p:spPr>
          <a:xfrm>
            <a:off x="1527048" y="2807208"/>
            <a:ext cx="4754880" cy="384048"/>
          </a:xfrm>
          <a:prstGeom prst="rect">
            <a:avLst/>
          </a:prstGeom>
          <a:noFill/>
          <a:ln/>
        </p:spPr>
        <p:txBody>
          <a:bodyPr wrap="square" lIns="0" tIns="0" rIns="0" bIns="0" rtlCol="0" anchor="ctr"/>
          <a:lstStyle/>
          <a:p>
            <a:pPr indent="0" marL="0">
              <a:buNone/>
            </a:pPr>
            <a:r>
              <a:rPr lang="en-US" sz="1200" dirty="0">
                <a:solidFill>
                  <a:srgbClr val="6B6B76"/>
                </a:solidFill>
                <a:latin typeface="Calibri" pitchFamily="34" charset="0"/>
                <a:ea typeface="Calibri" pitchFamily="34" charset="-122"/>
                <a:cs typeface="Calibri" pitchFamily="34" charset="-120"/>
              </a:rPr>
              <a:t>It does not know you have repeated measures. Unless you tell it.</a:t>
            </a:r>
            <a:endParaRPr lang="en-US" sz="1200" dirty="0"/>
          </a:p>
        </p:txBody>
      </p:sp>
      <p:sp>
        <p:nvSpPr>
          <p:cNvPr id="15" name="Text 12"/>
          <p:cNvSpPr/>
          <p:nvPr/>
        </p:nvSpPr>
        <p:spPr>
          <a:xfrm>
            <a:off x="6537960" y="2404872"/>
            <a:ext cx="4663440" cy="841248"/>
          </a:xfrm>
          <a:prstGeom prst="rect">
            <a:avLst/>
          </a:prstGeom>
          <a:noFill/>
          <a:ln/>
        </p:spPr>
        <p:txBody>
          <a:bodyPr wrap="square" lIns="0" tIns="0" rIns="0" bIns="0" rtlCol="0" anchor="ctr"/>
          <a:lstStyle/>
          <a:p>
            <a:pPr indent="0" marL="0">
              <a:buNone/>
            </a:pPr>
            <a:r>
              <a:rPr lang="en-US" sz="1200" dirty="0">
                <a:solidFill>
                  <a:srgbClr val="3A3A44"/>
                </a:solidFill>
                <a:latin typeface="Courier New" pitchFamily="34" charset="0"/>
                <a:ea typeface="Courier New" pitchFamily="34" charset="-122"/>
                <a:cs typeface="Courier New" pitchFamily="34" charset="-120"/>
              </a:rPr>
              <a:t>"What is this test assuming about my design?"</a:t>
            </a:r>
            <a:endParaRPr lang="en-US" sz="1200" dirty="0"/>
          </a:p>
        </p:txBody>
      </p:sp>
      <p:sp>
        <p:nvSpPr>
          <p:cNvPr id="16" name="Shape 13"/>
          <p:cNvSpPr/>
          <p:nvPr/>
        </p:nvSpPr>
        <p:spPr>
          <a:xfrm>
            <a:off x="777240" y="3346704"/>
            <a:ext cx="10607040" cy="841248"/>
          </a:xfrm>
          <a:prstGeom prst="roundRect">
            <a:avLst>
              <a:gd name="adj" fmla="val 9783"/>
            </a:avLst>
          </a:prstGeom>
          <a:solidFill>
            <a:srgbClr val="FFFFFF"/>
          </a:solidFill>
          <a:ln w="12700">
            <a:solidFill>
              <a:srgbClr val="DEDAE1"/>
            </a:solidFill>
            <a:prstDash val="solid"/>
          </a:ln>
        </p:spPr>
      </p:sp>
      <p:sp>
        <p:nvSpPr>
          <p:cNvPr id="17" name="Shape 14"/>
          <p:cNvSpPr/>
          <p:nvPr/>
        </p:nvSpPr>
        <p:spPr>
          <a:xfrm>
            <a:off x="960120" y="3575304"/>
            <a:ext cx="384048" cy="384048"/>
          </a:xfrm>
          <a:prstGeom prst="ellipse">
            <a:avLst/>
          </a:prstGeom>
          <a:solidFill>
            <a:srgbClr val="D98C2B"/>
          </a:solidFill>
          <a:ln/>
        </p:spPr>
      </p:sp>
      <p:sp>
        <p:nvSpPr>
          <p:cNvPr id="18" name="Text 15"/>
          <p:cNvSpPr/>
          <p:nvPr/>
        </p:nvSpPr>
        <p:spPr>
          <a:xfrm>
            <a:off x="960120" y="35753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p:nvPr/>
        </p:nvSpPr>
        <p:spPr>
          <a:xfrm>
            <a:off x="1527048" y="3401568"/>
            <a:ext cx="2743200" cy="365760"/>
          </a:xfrm>
          <a:prstGeom prst="rect">
            <a:avLst/>
          </a:prstGeom>
          <a:noFill/>
          <a:ln/>
        </p:spPr>
        <p:txBody>
          <a:bodyPr wrap="square" lIns="0" tIns="0" rIns="0" bIns="0" rtlCol="0" anchor="ctr"/>
          <a:lstStyle/>
          <a:p>
            <a:pPr indent="0" marL="0">
              <a:buNone/>
            </a:pPr>
            <a:r>
              <a:rPr lang="en-US" sz="1400" b="1" dirty="0">
                <a:solidFill>
                  <a:srgbClr val="1C1B22"/>
                </a:solidFill>
                <a:latin typeface="Calibri" pitchFamily="34" charset="0"/>
                <a:ea typeface="Calibri" pitchFamily="34" charset="-122"/>
                <a:cs typeface="Calibri" pitchFamily="34" charset="-120"/>
              </a:rPr>
              <a:t>Silent scope errors</a:t>
            </a:r>
            <a:endParaRPr lang="en-US" sz="1400" dirty="0"/>
          </a:p>
        </p:txBody>
      </p:sp>
      <p:sp>
        <p:nvSpPr>
          <p:cNvPr id="20" name="Text 17"/>
          <p:cNvSpPr/>
          <p:nvPr/>
        </p:nvSpPr>
        <p:spPr>
          <a:xfrm>
            <a:off x="1527048" y="3749040"/>
            <a:ext cx="4754880" cy="384048"/>
          </a:xfrm>
          <a:prstGeom prst="rect">
            <a:avLst/>
          </a:prstGeom>
          <a:noFill/>
          <a:ln/>
        </p:spPr>
        <p:txBody>
          <a:bodyPr wrap="square" lIns="0" tIns="0" rIns="0" bIns="0" rtlCol="0" anchor="ctr"/>
          <a:lstStyle/>
          <a:p>
            <a:pPr indent="0" marL="0">
              <a:buNone/>
            </a:pPr>
            <a:r>
              <a:rPr lang="en-US" sz="1200" dirty="0">
                <a:solidFill>
                  <a:srgbClr val="6B6B76"/>
                </a:solidFill>
                <a:latin typeface="Calibri" pitchFamily="34" charset="0"/>
                <a:ea typeface="Calibri" pitchFamily="34" charset="-122"/>
                <a:cs typeface="Calibri" pitchFamily="34" charset="-120"/>
              </a:rPr>
              <a:t>Models everyone when you meant a subgroup. Drops NAs without a word.</a:t>
            </a:r>
            <a:endParaRPr lang="en-US" sz="1200" dirty="0"/>
          </a:p>
        </p:txBody>
      </p:sp>
      <p:sp>
        <p:nvSpPr>
          <p:cNvPr id="21" name="Text 18"/>
          <p:cNvSpPr/>
          <p:nvPr/>
        </p:nvSpPr>
        <p:spPr>
          <a:xfrm>
            <a:off x="6537960" y="3346704"/>
            <a:ext cx="4663440" cy="841248"/>
          </a:xfrm>
          <a:prstGeom prst="rect">
            <a:avLst/>
          </a:prstGeom>
          <a:noFill/>
          <a:ln/>
        </p:spPr>
        <p:txBody>
          <a:bodyPr wrap="square" lIns="0" tIns="0" rIns="0" bIns="0" rtlCol="0" anchor="ctr"/>
          <a:lstStyle/>
          <a:p>
            <a:pPr indent="0" marL="0">
              <a:buNone/>
            </a:pPr>
            <a:r>
              <a:rPr lang="en-US" sz="1200" dirty="0">
                <a:solidFill>
                  <a:srgbClr val="3A3A44"/>
                </a:solidFill>
                <a:latin typeface="Courier New" pitchFamily="34" charset="0"/>
                <a:ea typeface="Courier New" pitchFamily="34" charset="-122"/>
                <a:cs typeface="Courier New" pitchFamily="34" charset="-120"/>
              </a:rPr>
              <a:t>"Print nrow() before and after every filter."</a:t>
            </a:r>
            <a:endParaRPr lang="en-US" sz="1200" dirty="0"/>
          </a:p>
        </p:txBody>
      </p:sp>
      <p:sp>
        <p:nvSpPr>
          <p:cNvPr id="22" name="Shape 19"/>
          <p:cNvSpPr/>
          <p:nvPr/>
        </p:nvSpPr>
        <p:spPr>
          <a:xfrm>
            <a:off x="777240" y="4288536"/>
            <a:ext cx="10607040" cy="841248"/>
          </a:xfrm>
          <a:prstGeom prst="roundRect">
            <a:avLst>
              <a:gd name="adj" fmla="val 9783"/>
            </a:avLst>
          </a:prstGeom>
          <a:solidFill>
            <a:srgbClr val="F4F2F5"/>
          </a:solidFill>
          <a:ln w="12700">
            <a:solidFill>
              <a:srgbClr val="DEDAE1"/>
            </a:solidFill>
            <a:prstDash val="solid"/>
          </a:ln>
        </p:spPr>
      </p:sp>
      <p:sp>
        <p:nvSpPr>
          <p:cNvPr id="23" name="Shape 20"/>
          <p:cNvSpPr/>
          <p:nvPr/>
        </p:nvSpPr>
        <p:spPr>
          <a:xfrm>
            <a:off x="960120" y="4517136"/>
            <a:ext cx="384048" cy="384048"/>
          </a:xfrm>
          <a:prstGeom prst="ellipse">
            <a:avLst/>
          </a:prstGeom>
          <a:solidFill>
            <a:srgbClr val="D98C2B"/>
          </a:solidFill>
          <a:ln/>
        </p:spPr>
      </p:sp>
      <p:sp>
        <p:nvSpPr>
          <p:cNvPr id="24" name="Text 21"/>
          <p:cNvSpPr/>
          <p:nvPr/>
        </p:nvSpPr>
        <p:spPr>
          <a:xfrm>
            <a:off x="960120" y="45171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2"/>
          <p:cNvSpPr/>
          <p:nvPr/>
        </p:nvSpPr>
        <p:spPr>
          <a:xfrm>
            <a:off x="1527048" y="4343400"/>
            <a:ext cx="2743200" cy="365760"/>
          </a:xfrm>
          <a:prstGeom prst="rect">
            <a:avLst/>
          </a:prstGeom>
          <a:noFill/>
          <a:ln/>
        </p:spPr>
        <p:txBody>
          <a:bodyPr wrap="square" lIns="0" tIns="0" rIns="0" bIns="0" rtlCol="0" anchor="ctr"/>
          <a:lstStyle/>
          <a:p>
            <a:pPr indent="0" marL="0">
              <a:buNone/>
            </a:pPr>
            <a:r>
              <a:rPr lang="en-US" sz="1400" b="1" dirty="0">
                <a:solidFill>
                  <a:srgbClr val="1C1B22"/>
                </a:solidFill>
                <a:latin typeface="Calibri" pitchFamily="34" charset="0"/>
                <a:ea typeface="Calibri" pitchFamily="34" charset="-122"/>
                <a:cs typeface="Calibri" pitchFamily="34" charset="-120"/>
              </a:rPr>
              <a:t>Invented numbers in prose</a:t>
            </a:r>
            <a:endParaRPr lang="en-US" sz="1400" dirty="0"/>
          </a:p>
        </p:txBody>
      </p:sp>
      <p:sp>
        <p:nvSpPr>
          <p:cNvPr id="26" name="Text 23"/>
          <p:cNvSpPr/>
          <p:nvPr/>
        </p:nvSpPr>
        <p:spPr>
          <a:xfrm>
            <a:off x="1527048" y="4690872"/>
            <a:ext cx="4754880" cy="384048"/>
          </a:xfrm>
          <a:prstGeom prst="rect">
            <a:avLst/>
          </a:prstGeom>
          <a:noFill/>
          <a:ln/>
        </p:spPr>
        <p:txBody>
          <a:bodyPr wrap="square" lIns="0" tIns="0" rIns="0" bIns="0" rtlCol="0" anchor="ctr"/>
          <a:lstStyle/>
          <a:p>
            <a:pPr indent="0" marL="0">
              <a:buNone/>
            </a:pPr>
            <a:r>
              <a:rPr lang="en-US" sz="1200" dirty="0">
                <a:solidFill>
                  <a:srgbClr val="6B6B76"/>
                </a:solidFill>
                <a:latin typeface="Calibri" pitchFamily="34" charset="0"/>
                <a:ea typeface="Calibri" pitchFamily="34" charset="-122"/>
                <a:cs typeface="Calibri" pitchFamily="34" charset="-120"/>
              </a:rPr>
              <a:t>Beautiful APA paragraphs containing an F it never computed.</a:t>
            </a:r>
            <a:endParaRPr lang="en-US" sz="1200" dirty="0"/>
          </a:p>
        </p:txBody>
      </p:sp>
      <p:sp>
        <p:nvSpPr>
          <p:cNvPr id="27" name="Text 24"/>
          <p:cNvSpPr/>
          <p:nvPr/>
        </p:nvSpPr>
        <p:spPr>
          <a:xfrm>
            <a:off x="6537960" y="4288536"/>
            <a:ext cx="4663440" cy="841248"/>
          </a:xfrm>
          <a:prstGeom prst="rect">
            <a:avLst/>
          </a:prstGeom>
          <a:noFill/>
          <a:ln/>
        </p:spPr>
        <p:txBody>
          <a:bodyPr wrap="square" lIns="0" tIns="0" rIns="0" bIns="0" rtlCol="0" anchor="ctr"/>
          <a:lstStyle/>
          <a:p>
            <a:pPr indent="0" marL="0">
              <a:buNone/>
            </a:pPr>
            <a:r>
              <a:rPr lang="en-US" sz="1200" dirty="0">
                <a:solidFill>
                  <a:srgbClr val="3A3A44"/>
                </a:solidFill>
                <a:latin typeface="Courier New" pitchFamily="34" charset="0"/>
                <a:ea typeface="Courier New" pitchFamily="34" charset="-122"/>
                <a:cs typeface="Courier New" pitchFamily="34" charset="-120"/>
              </a:rPr>
              <a:t>"Check every number against the model object."</a:t>
            </a:r>
            <a:endParaRPr lang="en-US" sz="1200" dirty="0"/>
          </a:p>
        </p:txBody>
      </p:sp>
      <p:sp>
        <p:nvSpPr>
          <p:cNvPr id="28" name="Shape 25"/>
          <p:cNvSpPr/>
          <p:nvPr/>
        </p:nvSpPr>
        <p:spPr>
          <a:xfrm>
            <a:off x="777240" y="5230368"/>
            <a:ext cx="10607040" cy="841248"/>
          </a:xfrm>
          <a:prstGeom prst="roundRect">
            <a:avLst>
              <a:gd name="adj" fmla="val 9783"/>
            </a:avLst>
          </a:prstGeom>
          <a:solidFill>
            <a:srgbClr val="FFFFFF"/>
          </a:solidFill>
          <a:ln w="12700">
            <a:solidFill>
              <a:srgbClr val="DEDAE1"/>
            </a:solidFill>
            <a:prstDash val="solid"/>
          </a:ln>
        </p:spPr>
      </p:sp>
      <p:sp>
        <p:nvSpPr>
          <p:cNvPr id="29" name="Shape 26"/>
          <p:cNvSpPr/>
          <p:nvPr/>
        </p:nvSpPr>
        <p:spPr>
          <a:xfrm>
            <a:off x="960120" y="5458968"/>
            <a:ext cx="384048" cy="384048"/>
          </a:xfrm>
          <a:prstGeom prst="ellipse">
            <a:avLst/>
          </a:prstGeom>
          <a:solidFill>
            <a:srgbClr val="4C9F70"/>
          </a:solidFill>
          <a:ln/>
        </p:spPr>
      </p:sp>
      <p:sp>
        <p:nvSpPr>
          <p:cNvPr id="30" name="Text 27"/>
          <p:cNvSpPr/>
          <p:nvPr/>
        </p:nvSpPr>
        <p:spPr>
          <a:xfrm>
            <a:off x="960120" y="54589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1" name="Text 28"/>
          <p:cNvSpPr/>
          <p:nvPr/>
        </p:nvSpPr>
        <p:spPr>
          <a:xfrm>
            <a:off x="1527048" y="5285232"/>
            <a:ext cx="2743200" cy="365760"/>
          </a:xfrm>
          <a:prstGeom prst="rect">
            <a:avLst/>
          </a:prstGeom>
          <a:noFill/>
          <a:ln/>
        </p:spPr>
        <p:txBody>
          <a:bodyPr wrap="square" lIns="0" tIns="0" rIns="0" bIns="0" rtlCol="0" anchor="ctr"/>
          <a:lstStyle/>
          <a:p>
            <a:pPr indent="0" marL="0">
              <a:buNone/>
            </a:pPr>
            <a:r>
              <a:rPr lang="en-US" sz="1400" b="1" dirty="0">
                <a:solidFill>
                  <a:srgbClr val="1C1B22"/>
                </a:solidFill>
                <a:latin typeface="Calibri" pitchFamily="34" charset="0"/>
                <a:ea typeface="Calibri" pitchFamily="34" charset="-122"/>
                <a:cs typeface="Calibri" pitchFamily="34" charset="-120"/>
              </a:rPr>
              <a:t>Plausible-but-wrong stats</a:t>
            </a:r>
            <a:endParaRPr lang="en-US" sz="1400" dirty="0"/>
          </a:p>
        </p:txBody>
      </p:sp>
      <p:sp>
        <p:nvSpPr>
          <p:cNvPr id="32" name="Text 29"/>
          <p:cNvSpPr/>
          <p:nvPr/>
        </p:nvSpPr>
        <p:spPr>
          <a:xfrm>
            <a:off x="1527048" y="5632704"/>
            <a:ext cx="4754880" cy="384048"/>
          </a:xfrm>
          <a:prstGeom prst="rect">
            <a:avLst/>
          </a:prstGeom>
          <a:noFill/>
          <a:ln/>
        </p:spPr>
        <p:txBody>
          <a:bodyPr wrap="square" lIns="0" tIns="0" rIns="0" bIns="0" rtlCol="0" anchor="ctr"/>
          <a:lstStyle/>
          <a:p>
            <a:pPr indent="0" marL="0">
              <a:buNone/>
            </a:pPr>
            <a:r>
              <a:rPr lang="en-US" sz="1200" dirty="0">
                <a:solidFill>
                  <a:srgbClr val="6B6B76"/>
                </a:solidFill>
                <a:latin typeface="Calibri" pitchFamily="34" charset="0"/>
                <a:ea typeface="Calibri" pitchFamily="34" charset="-122"/>
                <a:cs typeface="Calibri" pitchFamily="34" charset="-120"/>
              </a:rPr>
              <a:t>p = .07 described as significant. A sign flipped, reported with total serenity.</a:t>
            </a:r>
            <a:endParaRPr lang="en-US" sz="1200" dirty="0"/>
          </a:p>
        </p:txBody>
      </p:sp>
      <p:sp>
        <p:nvSpPr>
          <p:cNvPr id="33" name="Text 30"/>
          <p:cNvSpPr/>
          <p:nvPr/>
        </p:nvSpPr>
        <p:spPr>
          <a:xfrm>
            <a:off x="6537960" y="5230368"/>
            <a:ext cx="4663440" cy="841248"/>
          </a:xfrm>
          <a:prstGeom prst="rect">
            <a:avLst/>
          </a:prstGeom>
          <a:noFill/>
          <a:ln/>
        </p:spPr>
        <p:txBody>
          <a:bodyPr wrap="square" lIns="0" tIns="0" rIns="0" bIns="0" rtlCol="0" anchor="ctr"/>
          <a:lstStyle/>
          <a:p>
            <a:pPr indent="0" marL="0">
              <a:buNone/>
            </a:pPr>
            <a:r>
              <a:rPr lang="en-US" sz="1200" dirty="0">
                <a:solidFill>
                  <a:srgbClr val="3A3A44"/>
                </a:solidFill>
                <a:latin typeface="Courier New" pitchFamily="34" charset="0"/>
                <a:ea typeface="Courier New" pitchFamily="34" charset="-122"/>
                <a:cs typeface="Courier New" pitchFamily="34" charset="-120"/>
              </a:rPr>
              <a:t>"Read the output yourself. Every time."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10634472" cy="822960"/>
          </a:xfrm>
          <a:prstGeom prst="rect">
            <a:avLst/>
          </a:prstGeom>
          <a:noFill/>
          <a:ln/>
        </p:spPr>
        <p:txBody>
          <a:bodyPr wrap="square" lIns="0" tIns="0" rIns="0" bIns="0" rtlCol="0" anchor="ctr"/>
          <a:lstStyle/>
          <a:p>
            <a:pPr indent="0" marL="0">
              <a:buNone/>
            </a:pPr>
            <a:r>
              <a:rPr lang="en-US" sz="3400" b="1" dirty="0">
                <a:solidFill>
                  <a:srgbClr val="1C1B22"/>
                </a:solidFill>
                <a:latin typeface="Cambria" pitchFamily="34" charset="0"/>
                <a:ea typeface="Cambria" pitchFamily="34" charset="-122"/>
                <a:cs typeface="Cambria" pitchFamily="34" charset="-120"/>
              </a:rPr>
              <a:t>The rules that don't bend</a:t>
            </a:r>
            <a:endParaRPr lang="en-US" sz="3400" dirty="0"/>
          </a:p>
        </p:txBody>
      </p:sp>
      <p:sp>
        <p:nvSpPr>
          <p:cNvPr id="4" name="Shape 1"/>
          <p:cNvSpPr/>
          <p:nvPr/>
        </p:nvSpPr>
        <p:spPr>
          <a:xfrm>
            <a:off x="777240" y="1554480"/>
            <a:ext cx="10607040" cy="1325880"/>
          </a:xfrm>
          <a:prstGeom prst="roundRect">
            <a:avLst>
              <a:gd name="adj" fmla="val 6207"/>
            </a:avLst>
          </a:prstGeom>
          <a:solidFill>
            <a:srgbClr val="F4F2F5"/>
          </a:solidFill>
          <a:ln w="12700">
            <a:solidFill>
              <a:srgbClr val="DEDAE1"/>
            </a:solidFill>
            <a:prstDash val="solid"/>
          </a:ln>
        </p:spPr>
      </p:sp>
      <p:sp>
        <p:nvSpPr>
          <p:cNvPr id="5" name="Shape 2"/>
          <p:cNvSpPr/>
          <p:nvPr/>
        </p:nvSpPr>
        <p:spPr>
          <a:xfrm>
            <a:off x="1051560" y="2011680"/>
            <a:ext cx="384048" cy="384048"/>
          </a:xfrm>
          <a:prstGeom prst="ellipse">
            <a:avLst/>
          </a:prstGeom>
          <a:solidFill>
            <a:srgbClr val="B5446E"/>
          </a:solidFill>
          <a:ln/>
        </p:spPr>
      </p:sp>
      <p:sp>
        <p:nvSpPr>
          <p:cNvPr id="6" name="Text 3"/>
          <p:cNvSpPr/>
          <p:nvPr/>
        </p:nvSpPr>
        <p:spPr>
          <a:xfrm>
            <a:off x="1691640" y="1682496"/>
            <a:ext cx="9418320" cy="384048"/>
          </a:xfrm>
          <a:prstGeom prst="rect">
            <a:avLst/>
          </a:prstGeom>
          <a:noFill/>
          <a:ln/>
        </p:spPr>
        <p:txBody>
          <a:bodyPr wrap="square" lIns="0" tIns="0" rIns="0" bIns="0" rtlCol="0" anchor="ctr"/>
          <a:lstStyle/>
          <a:p>
            <a:pPr indent="0" marL="0">
              <a:buNone/>
            </a:pPr>
            <a:r>
              <a:rPr lang="en-US" sz="1700" b="1" dirty="0">
                <a:solidFill>
                  <a:srgbClr val="1C1B22"/>
                </a:solidFill>
                <a:latin typeface="Cambria" pitchFamily="34" charset="0"/>
                <a:ea typeface="Cambria" pitchFamily="34" charset="-122"/>
                <a:cs typeface="Cambria" pitchFamily="34" charset="-120"/>
              </a:rPr>
              <a:t>Never paste real patient data into a chatbot.</a:t>
            </a:r>
            <a:endParaRPr lang="en-US" sz="1700" dirty="0"/>
          </a:p>
        </p:txBody>
      </p:sp>
      <p:sp>
        <p:nvSpPr>
          <p:cNvPr id="7" name="Text 4"/>
          <p:cNvSpPr/>
          <p:nvPr/>
        </p:nvSpPr>
        <p:spPr>
          <a:xfrm>
            <a:off x="1691640" y="2084832"/>
            <a:ext cx="9418320" cy="731520"/>
          </a:xfrm>
          <a:prstGeom prst="rect">
            <a:avLst/>
          </a:prstGeom>
          <a:noFill/>
          <a:ln/>
        </p:spPr>
        <p:txBody>
          <a:bodyPr wrap="square" lIns="0" tIns="0" rIns="0" bIns="0" rtlCol="0" anchor="ctr"/>
          <a:lstStyle/>
          <a:p>
            <a:pPr indent="0" marL="0">
              <a:lnSpc>
                <a:spcPts val="1900"/>
              </a:lnSpc>
              <a:buNone/>
            </a:pPr>
            <a:r>
              <a:rPr lang="en-US" sz="1300" dirty="0">
                <a:solidFill>
                  <a:srgbClr val="3A3A44"/>
                </a:solidFill>
                <a:latin typeface="Calibri" pitchFamily="34" charset="0"/>
                <a:ea typeface="Calibri" pitchFamily="34" charset="-122"/>
                <a:cs typeface="Calibri" pitchFamily="34" charset="-120"/>
              </a:rPr>
              <a:t>Not transcripts. Not MRNs. Not "de-identified" text you haven't personally checked. Share the SCHEMA, not the rows — column names and a fabricated example row are enough to get working code.</a:t>
            </a:r>
            <a:endParaRPr lang="en-US" sz="1300" dirty="0"/>
          </a:p>
        </p:txBody>
      </p:sp>
      <p:sp>
        <p:nvSpPr>
          <p:cNvPr id="8" name="Shape 5"/>
          <p:cNvSpPr/>
          <p:nvPr/>
        </p:nvSpPr>
        <p:spPr>
          <a:xfrm>
            <a:off x="777240" y="3063240"/>
            <a:ext cx="10607040" cy="1325880"/>
          </a:xfrm>
          <a:prstGeom prst="roundRect">
            <a:avLst>
              <a:gd name="adj" fmla="val 6207"/>
            </a:avLst>
          </a:prstGeom>
          <a:solidFill>
            <a:srgbClr val="F4F2F5"/>
          </a:solidFill>
          <a:ln w="12700">
            <a:solidFill>
              <a:srgbClr val="DEDAE1"/>
            </a:solidFill>
            <a:prstDash val="solid"/>
          </a:ln>
        </p:spPr>
      </p:sp>
      <p:sp>
        <p:nvSpPr>
          <p:cNvPr id="9" name="Shape 6"/>
          <p:cNvSpPr/>
          <p:nvPr/>
        </p:nvSpPr>
        <p:spPr>
          <a:xfrm>
            <a:off x="1051560" y="3520440"/>
            <a:ext cx="384048" cy="384048"/>
          </a:xfrm>
          <a:prstGeom prst="ellipse">
            <a:avLst/>
          </a:prstGeom>
          <a:solidFill>
            <a:srgbClr val="D98C2B"/>
          </a:solidFill>
          <a:ln/>
        </p:spPr>
      </p:sp>
      <p:sp>
        <p:nvSpPr>
          <p:cNvPr id="10" name="Text 7"/>
          <p:cNvSpPr/>
          <p:nvPr/>
        </p:nvSpPr>
        <p:spPr>
          <a:xfrm>
            <a:off x="1691640" y="3191256"/>
            <a:ext cx="9418320" cy="384048"/>
          </a:xfrm>
          <a:prstGeom prst="rect">
            <a:avLst/>
          </a:prstGeom>
          <a:noFill/>
          <a:ln/>
        </p:spPr>
        <p:txBody>
          <a:bodyPr wrap="square" lIns="0" tIns="0" rIns="0" bIns="0" rtlCol="0" anchor="ctr"/>
          <a:lstStyle/>
          <a:p>
            <a:pPr indent="0" marL="0">
              <a:buNone/>
            </a:pPr>
            <a:r>
              <a:rPr lang="en-US" sz="1700" b="1" dirty="0">
                <a:solidFill>
                  <a:srgbClr val="1C1B22"/>
                </a:solidFill>
                <a:latin typeface="Cambria" pitchFamily="34" charset="0"/>
                <a:ea typeface="Cambria" pitchFamily="34" charset="-122"/>
                <a:cs typeface="Cambria" pitchFamily="34" charset="-120"/>
              </a:rPr>
              <a:t>Run it. Read it. Then trust it. In that order.</a:t>
            </a:r>
            <a:endParaRPr lang="en-US" sz="1700" dirty="0"/>
          </a:p>
        </p:txBody>
      </p:sp>
      <p:sp>
        <p:nvSpPr>
          <p:cNvPr id="11" name="Text 8"/>
          <p:cNvSpPr/>
          <p:nvPr/>
        </p:nvSpPr>
        <p:spPr>
          <a:xfrm>
            <a:off x="1691640" y="3593592"/>
            <a:ext cx="9418320" cy="731520"/>
          </a:xfrm>
          <a:prstGeom prst="rect">
            <a:avLst/>
          </a:prstGeom>
          <a:noFill/>
          <a:ln/>
        </p:spPr>
        <p:txBody>
          <a:bodyPr wrap="square" lIns="0" tIns="0" rIns="0" bIns="0" rtlCol="0" anchor="ctr"/>
          <a:lstStyle/>
          <a:p>
            <a:pPr indent="0" marL="0">
              <a:lnSpc>
                <a:spcPts val="1900"/>
              </a:lnSpc>
              <a:buNone/>
            </a:pPr>
            <a:r>
              <a:rPr lang="en-US" sz="1300" dirty="0">
                <a:solidFill>
                  <a:srgbClr val="3A3A44"/>
                </a:solidFill>
                <a:latin typeface="Calibri" pitchFamily="34" charset="0"/>
                <a:ea typeface="Calibri" pitchFamily="34" charset="-122"/>
                <a:cs typeface="Calibri" pitchFamily="34" charset="-120"/>
              </a:rPr>
              <a:t>Code that runs without error can still be answering a different question than the one you asked.</a:t>
            </a:r>
            <a:endParaRPr lang="en-US" sz="1300" dirty="0"/>
          </a:p>
        </p:txBody>
      </p:sp>
      <p:sp>
        <p:nvSpPr>
          <p:cNvPr id="12" name="Shape 9"/>
          <p:cNvSpPr/>
          <p:nvPr/>
        </p:nvSpPr>
        <p:spPr>
          <a:xfrm>
            <a:off x="777240" y="4572000"/>
            <a:ext cx="10607040" cy="1325880"/>
          </a:xfrm>
          <a:prstGeom prst="roundRect">
            <a:avLst>
              <a:gd name="adj" fmla="val 6207"/>
            </a:avLst>
          </a:prstGeom>
          <a:solidFill>
            <a:srgbClr val="F4F2F5"/>
          </a:solidFill>
          <a:ln w="12700">
            <a:solidFill>
              <a:srgbClr val="DEDAE1"/>
            </a:solidFill>
            <a:prstDash val="solid"/>
          </a:ln>
        </p:spPr>
      </p:sp>
      <p:sp>
        <p:nvSpPr>
          <p:cNvPr id="13" name="Shape 10"/>
          <p:cNvSpPr/>
          <p:nvPr/>
        </p:nvSpPr>
        <p:spPr>
          <a:xfrm>
            <a:off x="1051560" y="5029200"/>
            <a:ext cx="384048" cy="384048"/>
          </a:xfrm>
          <a:prstGeom prst="ellipse">
            <a:avLst/>
          </a:prstGeom>
          <a:solidFill>
            <a:srgbClr val="4C9F70"/>
          </a:solidFill>
          <a:ln/>
        </p:spPr>
      </p:sp>
      <p:sp>
        <p:nvSpPr>
          <p:cNvPr id="14" name="Text 11"/>
          <p:cNvSpPr/>
          <p:nvPr/>
        </p:nvSpPr>
        <p:spPr>
          <a:xfrm>
            <a:off x="1691640" y="4700016"/>
            <a:ext cx="9418320" cy="384048"/>
          </a:xfrm>
          <a:prstGeom prst="rect">
            <a:avLst/>
          </a:prstGeom>
          <a:noFill/>
          <a:ln/>
        </p:spPr>
        <p:txBody>
          <a:bodyPr wrap="square" lIns="0" tIns="0" rIns="0" bIns="0" rtlCol="0" anchor="ctr"/>
          <a:lstStyle/>
          <a:p>
            <a:pPr indent="0" marL="0">
              <a:buNone/>
            </a:pPr>
            <a:r>
              <a:rPr lang="en-US" sz="1700" b="1" dirty="0">
                <a:solidFill>
                  <a:srgbClr val="1C1B22"/>
                </a:solidFill>
                <a:latin typeface="Cambria" pitchFamily="34" charset="0"/>
                <a:ea typeface="Cambria" pitchFamily="34" charset="-122"/>
                <a:cs typeface="Cambria" pitchFamily="34" charset="-120"/>
              </a:rPr>
              <a:t>If you can't explain it, you can't publish it.</a:t>
            </a:r>
            <a:endParaRPr lang="en-US" sz="1700" dirty="0"/>
          </a:p>
        </p:txBody>
      </p:sp>
      <p:sp>
        <p:nvSpPr>
          <p:cNvPr id="15" name="Text 12"/>
          <p:cNvSpPr/>
          <p:nvPr/>
        </p:nvSpPr>
        <p:spPr>
          <a:xfrm>
            <a:off x="1691640" y="5102352"/>
            <a:ext cx="9418320" cy="731520"/>
          </a:xfrm>
          <a:prstGeom prst="rect">
            <a:avLst/>
          </a:prstGeom>
          <a:noFill/>
          <a:ln/>
        </p:spPr>
        <p:txBody>
          <a:bodyPr wrap="square" lIns="0" tIns="0" rIns="0" bIns="0" rtlCol="0" anchor="ctr"/>
          <a:lstStyle/>
          <a:p>
            <a:pPr indent="0" marL="0">
              <a:lnSpc>
                <a:spcPts val="1900"/>
              </a:lnSpc>
              <a:buNone/>
            </a:pPr>
            <a:r>
              <a:rPr lang="en-US" sz="1300" dirty="0">
                <a:solidFill>
                  <a:srgbClr val="3A3A44"/>
                </a:solidFill>
                <a:latin typeface="Calibri" pitchFamily="34" charset="0"/>
                <a:ea typeface="Calibri" pitchFamily="34" charset="-122"/>
                <a:cs typeface="Calibri" pitchFamily="34" charset="-120"/>
              </a:rPr>
              <a:t>Not a moral point — a practical one. You are the person defending it in review, and in your own head at 2am.</a:t>
            </a:r>
            <a:endParaRPr lang="en-US" sz="1300" dirty="0"/>
          </a:p>
        </p:txBody>
      </p:sp>
      <p:sp>
        <p:nvSpPr>
          <p:cNvPr id="16" name="Text 13"/>
          <p:cNvSpPr/>
          <p:nvPr/>
        </p:nvSpPr>
        <p:spPr>
          <a:xfrm>
            <a:off x="777240" y="6126480"/>
            <a:ext cx="10607040" cy="365760"/>
          </a:xfrm>
          <a:prstGeom prst="rect">
            <a:avLst/>
          </a:prstGeom>
          <a:noFill/>
          <a:ln/>
        </p:spPr>
        <p:txBody>
          <a:bodyPr wrap="square" lIns="0" tIns="0" rIns="0" bIns="0" rtlCol="0" anchor="ctr"/>
          <a:lstStyle/>
          <a:p>
            <a:pPr indent="0" marL="0">
              <a:buNone/>
            </a:pPr>
            <a:r>
              <a:rPr lang="en-US" sz="1400" i="1" dirty="0">
                <a:solidFill>
                  <a:srgbClr val="6B6B76"/>
                </a:solidFill>
                <a:latin typeface="Calibri" pitchFamily="34" charset="0"/>
                <a:ea typeface="Calibri" pitchFamily="34" charset="-122"/>
                <a:cs typeface="Calibri" pitchFamily="34" charset="-120"/>
              </a:rPr>
              <a:t>And say what you did. Journals increasingly require it. One sentence in the methods. Keep the chat log.</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10634472" cy="822960"/>
          </a:xfrm>
          <a:prstGeom prst="rect">
            <a:avLst/>
          </a:prstGeom>
          <a:noFill/>
          <a:ln/>
        </p:spPr>
        <p:txBody>
          <a:bodyPr wrap="square" lIns="0" tIns="0" rIns="0" bIns="0" rtlCol="0" anchor="ctr"/>
          <a:lstStyle/>
          <a:p>
            <a:pPr indent="0" marL="0">
              <a:buNone/>
            </a:pPr>
            <a:r>
              <a:rPr lang="en-US" sz="3400" b="1" dirty="0">
                <a:solidFill>
                  <a:srgbClr val="1C1B22"/>
                </a:solidFill>
                <a:latin typeface="Cambria" pitchFamily="34" charset="0"/>
                <a:ea typeface="Cambria" pitchFamily="34" charset="-122"/>
                <a:cs typeface="Cambria" pitchFamily="34" charset="-120"/>
              </a:rPr>
              <a:t>Where this goes next</a:t>
            </a:r>
            <a:endParaRPr lang="en-US" sz="3400" dirty="0"/>
          </a:p>
        </p:txBody>
      </p:sp>
      <p:sp>
        <p:nvSpPr>
          <p:cNvPr id="4" name="Shape 1"/>
          <p:cNvSpPr/>
          <p:nvPr/>
        </p:nvSpPr>
        <p:spPr>
          <a:xfrm>
            <a:off x="777240" y="1645920"/>
            <a:ext cx="3291840" cy="3200400"/>
          </a:xfrm>
          <a:prstGeom prst="roundRect">
            <a:avLst>
              <a:gd name="adj" fmla="val 2571"/>
            </a:avLst>
          </a:prstGeom>
          <a:solidFill>
            <a:srgbClr val="F4F2F5"/>
          </a:solidFill>
          <a:ln w="12700">
            <a:solidFill>
              <a:srgbClr val="DEDAE1"/>
            </a:solidFill>
            <a:prstDash val="solid"/>
          </a:ln>
        </p:spPr>
      </p:sp>
      <p:sp>
        <p:nvSpPr>
          <p:cNvPr id="5" name="Shape 2"/>
          <p:cNvSpPr/>
          <p:nvPr/>
        </p:nvSpPr>
        <p:spPr>
          <a:xfrm>
            <a:off x="1051560" y="1920240"/>
            <a:ext cx="411480" cy="411480"/>
          </a:xfrm>
          <a:prstGeom prst="ellipse">
            <a:avLst/>
          </a:prstGeom>
          <a:solidFill>
            <a:srgbClr val="6B6B76"/>
          </a:solidFill>
          <a:ln/>
        </p:spPr>
      </p:sp>
      <p:sp>
        <p:nvSpPr>
          <p:cNvPr id="6" name="Text 3"/>
          <p:cNvSpPr/>
          <p:nvPr/>
        </p:nvSpPr>
        <p:spPr>
          <a:xfrm>
            <a:off x="1051560" y="2468880"/>
            <a:ext cx="2743200" cy="384048"/>
          </a:xfrm>
          <a:prstGeom prst="rect">
            <a:avLst/>
          </a:prstGeom>
          <a:noFill/>
          <a:ln/>
        </p:spPr>
        <p:txBody>
          <a:bodyPr wrap="square" lIns="0" tIns="0" rIns="0" bIns="0" rtlCol="0" anchor="ctr"/>
          <a:lstStyle/>
          <a:p>
            <a:pPr indent="0" marL="0">
              <a:buNone/>
            </a:pPr>
            <a:r>
              <a:rPr lang="en-US" sz="1800" b="1" dirty="0">
                <a:solidFill>
                  <a:srgbClr val="1C1B22"/>
                </a:solidFill>
                <a:latin typeface="Cambria" pitchFamily="34" charset="0"/>
                <a:ea typeface="Cambria" pitchFamily="34" charset="-122"/>
                <a:cs typeface="Cambria" pitchFamily="34" charset="-120"/>
              </a:rPr>
              <a:t>Today</a:t>
            </a:r>
            <a:endParaRPr lang="en-US" sz="1800" dirty="0"/>
          </a:p>
        </p:txBody>
      </p:sp>
      <p:sp>
        <p:nvSpPr>
          <p:cNvPr id="7" name="Text 4"/>
          <p:cNvSpPr/>
          <p:nvPr/>
        </p:nvSpPr>
        <p:spPr>
          <a:xfrm>
            <a:off x="1051560" y="2926080"/>
            <a:ext cx="2743200" cy="1280160"/>
          </a:xfrm>
          <a:prstGeom prst="rect">
            <a:avLst/>
          </a:prstGeom>
          <a:noFill/>
          <a:ln/>
        </p:spPr>
        <p:txBody>
          <a:bodyPr wrap="square" lIns="0" tIns="0" rIns="0" bIns="0" rtlCol="0" anchor="ctr"/>
          <a:lstStyle/>
          <a:p>
            <a:pPr indent="0" marL="0">
              <a:lnSpc>
                <a:spcPts val="1800"/>
              </a:lnSpc>
              <a:buNone/>
            </a:pPr>
            <a:r>
              <a:rPr lang="en-US" sz="1300" dirty="0">
                <a:solidFill>
                  <a:srgbClr val="3A3A44"/>
                </a:solidFill>
                <a:latin typeface="Calibri" pitchFamily="34" charset="0"/>
                <a:ea typeface="Calibri" pitchFamily="34" charset="-122"/>
                <a:cs typeface="Calibri" pitchFamily="34" charset="-120"/>
              </a:rPr>
              <a:t>Chat in one tab, code in another. Copy, paste, run, check.</a:t>
            </a:r>
            <a:endParaRPr lang="en-US" sz="1300" dirty="0"/>
          </a:p>
        </p:txBody>
      </p:sp>
      <p:sp>
        <p:nvSpPr>
          <p:cNvPr id="8" name="Text 5"/>
          <p:cNvSpPr/>
          <p:nvPr/>
        </p:nvSpPr>
        <p:spPr>
          <a:xfrm>
            <a:off x="1051560" y="4297680"/>
            <a:ext cx="2743200" cy="457200"/>
          </a:xfrm>
          <a:prstGeom prst="rect">
            <a:avLst/>
          </a:prstGeom>
          <a:noFill/>
          <a:ln/>
        </p:spPr>
        <p:txBody>
          <a:bodyPr wrap="square" lIns="0" tIns="0" rIns="0" bIns="0" rtlCol="0" anchor="ctr"/>
          <a:lstStyle/>
          <a:p>
            <a:pPr indent="0" marL="0">
              <a:buNone/>
            </a:pPr>
            <a:r>
              <a:rPr lang="en-US" sz="1200" i="1" dirty="0">
                <a:solidFill>
                  <a:srgbClr val="6B6B76"/>
                </a:solidFill>
                <a:latin typeface="Calibri" pitchFamily="34" charset="0"/>
                <a:ea typeface="Calibri" pitchFamily="34" charset="-122"/>
                <a:cs typeface="Calibri" pitchFamily="34" charset="-120"/>
              </a:rPr>
              <a:t>Works everywhere. Free. Start here.</a:t>
            </a:r>
            <a:endParaRPr lang="en-US" sz="1200" dirty="0"/>
          </a:p>
        </p:txBody>
      </p:sp>
      <p:sp>
        <p:nvSpPr>
          <p:cNvPr id="9" name="Shape 6"/>
          <p:cNvSpPr/>
          <p:nvPr/>
        </p:nvSpPr>
        <p:spPr>
          <a:xfrm>
            <a:off x="4434840" y="1645920"/>
            <a:ext cx="3291840" cy="3200400"/>
          </a:xfrm>
          <a:prstGeom prst="roundRect">
            <a:avLst>
              <a:gd name="adj" fmla="val 2571"/>
            </a:avLst>
          </a:prstGeom>
          <a:solidFill>
            <a:srgbClr val="F4F2F5"/>
          </a:solidFill>
          <a:ln w="12700">
            <a:solidFill>
              <a:srgbClr val="DEDAE1"/>
            </a:solidFill>
            <a:prstDash val="solid"/>
          </a:ln>
        </p:spPr>
      </p:sp>
      <p:sp>
        <p:nvSpPr>
          <p:cNvPr id="10" name="Shape 7"/>
          <p:cNvSpPr/>
          <p:nvPr/>
        </p:nvSpPr>
        <p:spPr>
          <a:xfrm>
            <a:off x="4709160" y="1920240"/>
            <a:ext cx="411480" cy="411480"/>
          </a:xfrm>
          <a:prstGeom prst="ellipse">
            <a:avLst/>
          </a:prstGeom>
          <a:solidFill>
            <a:srgbClr val="4C9F70"/>
          </a:solidFill>
          <a:ln/>
        </p:spPr>
      </p:sp>
      <p:sp>
        <p:nvSpPr>
          <p:cNvPr id="11" name="Text 8"/>
          <p:cNvSpPr/>
          <p:nvPr/>
        </p:nvSpPr>
        <p:spPr>
          <a:xfrm>
            <a:off x="4709160" y="2468880"/>
            <a:ext cx="2743200" cy="384048"/>
          </a:xfrm>
          <a:prstGeom prst="rect">
            <a:avLst/>
          </a:prstGeom>
          <a:noFill/>
          <a:ln/>
        </p:spPr>
        <p:txBody>
          <a:bodyPr wrap="square" lIns="0" tIns="0" rIns="0" bIns="0" rtlCol="0" anchor="ctr"/>
          <a:lstStyle/>
          <a:p>
            <a:pPr indent="0" marL="0">
              <a:buNone/>
            </a:pPr>
            <a:r>
              <a:rPr lang="en-US" sz="1800" b="1" dirty="0">
                <a:solidFill>
                  <a:srgbClr val="1C1B22"/>
                </a:solidFill>
                <a:latin typeface="Cambria" pitchFamily="34" charset="0"/>
                <a:ea typeface="Cambria" pitchFamily="34" charset="-122"/>
                <a:cs typeface="Cambria" pitchFamily="34" charset="-120"/>
              </a:rPr>
              <a:t>In-IDE</a:t>
            </a:r>
            <a:endParaRPr lang="en-US" sz="1800" dirty="0"/>
          </a:p>
        </p:txBody>
      </p:sp>
      <p:sp>
        <p:nvSpPr>
          <p:cNvPr id="12" name="Text 9"/>
          <p:cNvSpPr/>
          <p:nvPr/>
        </p:nvSpPr>
        <p:spPr>
          <a:xfrm>
            <a:off x="4709160" y="2926080"/>
            <a:ext cx="2743200" cy="1280160"/>
          </a:xfrm>
          <a:prstGeom prst="rect">
            <a:avLst/>
          </a:prstGeom>
          <a:noFill/>
          <a:ln/>
        </p:spPr>
        <p:txBody>
          <a:bodyPr wrap="square" lIns="0" tIns="0" rIns="0" bIns="0" rtlCol="0" anchor="ctr"/>
          <a:lstStyle/>
          <a:p>
            <a:pPr indent="0" marL="0">
              <a:lnSpc>
                <a:spcPts val="1800"/>
              </a:lnSpc>
              <a:buNone/>
            </a:pPr>
            <a:r>
              <a:rPr lang="en-US" sz="1300" dirty="0">
                <a:solidFill>
                  <a:srgbClr val="3A3A44"/>
                </a:solidFill>
                <a:latin typeface="Calibri" pitchFamily="34" charset="0"/>
                <a:ea typeface="Calibri" pitchFamily="34" charset="-122"/>
                <a:cs typeface="Calibri" pitchFamily="34" charset="-120"/>
              </a:rPr>
              <a:t>The assistant lives inside the editor. Colab's Gemini panel. Copilot in RStudio.</a:t>
            </a:r>
            <a:endParaRPr lang="en-US" sz="1300" dirty="0"/>
          </a:p>
        </p:txBody>
      </p:sp>
      <p:sp>
        <p:nvSpPr>
          <p:cNvPr id="13" name="Text 10"/>
          <p:cNvSpPr/>
          <p:nvPr/>
        </p:nvSpPr>
        <p:spPr>
          <a:xfrm>
            <a:off x="4709160" y="4297680"/>
            <a:ext cx="2743200" cy="457200"/>
          </a:xfrm>
          <a:prstGeom prst="rect">
            <a:avLst/>
          </a:prstGeom>
          <a:noFill/>
          <a:ln/>
        </p:spPr>
        <p:txBody>
          <a:bodyPr wrap="square" lIns="0" tIns="0" rIns="0" bIns="0" rtlCol="0" anchor="ctr"/>
          <a:lstStyle/>
          <a:p>
            <a:pPr indent="0" marL="0">
              <a:buNone/>
            </a:pPr>
            <a:r>
              <a:rPr lang="en-US" sz="1200" i="1" dirty="0">
                <a:solidFill>
                  <a:srgbClr val="4C9F70"/>
                </a:solidFill>
                <a:latin typeface="Calibri" pitchFamily="34" charset="0"/>
                <a:ea typeface="Calibri" pitchFamily="34" charset="-122"/>
                <a:cs typeface="Calibri" pitchFamily="34" charset="-120"/>
              </a:rPr>
              <a:t>Same skill. Less copy-pasting.</a:t>
            </a:r>
            <a:endParaRPr lang="en-US" sz="1200" dirty="0"/>
          </a:p>
        </p:txBody>
      </p:sp>
      <p:sp>
        <p:nvSpPr>
          <p:cNvPr id="14" name="Shape 11"/>
          <p:cNvSpPr/>
          <p:nvPr/>
        </p:nvSpPr>
        <p:spPr>
          <a:xfrm>
            <a:off x="8092440" y="1645920"/>
            <a:ext cx="3291840" cy="3200400"/>
          </a:xfrm>
          <a:prstGeom prst="roundRect">
            <a:avLst>
              <a:gd name="adj" fmla="val 2571"/>
            </a:avLst>
          </a:prstGeom>
          <a:solidFill>
            <a:srgbClr val="F4F2F5"/>
          </a:solidFill>
          <a:ln w="12700">
            <a:solidFill>
              <a:srgbClr val="DEDAE1"/>
            </a:solidFill>
            <a:prstDash val="solid"/>
          </a:ln>
        </p:spPr>
      </p:sp>
      <p:sp>
        <p:nvSpPr>
          <p:cNvPr id="15" name="Shape 12"/>
          <p:cNvSpPr/>
          <p:nvPr/>
        </p:nvSpPr>
        <p:spPr>
          <a:xfrm>
            <a:off x="8366760" y="1920240"/>
            <a:ext cx="411480" cy="411480"/>
          </a:xfrm>
          <a:prstGeom prst="ellipse">
            <a:avLst/>
          </a:prstGeom>
          <a:solidFill>
            <a:srgbClr val="B5446E"/>
          </a:solidFill>
          <a:ln/>
        </p:spPr>
      </p:sp>
      <p:sp>
        <p:nvSpPr>
          <p:cNvPr id="16" name="Text 13"/>
          <p:cNvSpPr/>
          <p:nvPr/>
        </p:nvSpPr>
        <p:spPr>
          <a:xfrm>
            <a:off x="8366760" y="2468880"/>
            <a:ext cx="2743200" cy="384048"/>
          </a:xfrm>
          <a:prstGeom prst="rect">
            <a:avLst/>
          </a:prstGeom>
          <a:noFill/>
          <a:ln/>
        </p:spPr>
        <p:txBody>
          <a:bodyPr wrap="square" lIns="0" tIns="0" rIns="0" bIns="0" rtlCol="0" anchor="ctr"/>
          <a:lstStyle/>
          <a:p>
            <a:pPr indent="0" marL="0">
              <a:buNone/>
            </a:pPr>
            <a:r>
              <a:rPr lang="en-US" sz="1800" b="1" dirty="0">
                <a:solidFill>
                  <a:srgbClr val="1C1B22"/>
                </a:solidFill>
                <a:latin typeface="Cambria" pitchFamily="34" charset="0"/>
                <a:ea typeface="Cambria" pitchFamily="34" charset="-122"/>
                <a:cs typeface="Cambria" pitchFamily="34" charset="-120"/>
              </a:rPr>
              <a:t>Agentic</a:t>
            </a:r>
            <a:endParaRPr lang="en-US" sz="1800" dirty="0"/>
          </a:p>
        </p:txBody>
      </p:sp>
      <p:sp>
        <p:nvSpPr>
          <p:cNvPr id="17" name="Text 14"/>
          <p:cNvSpPr/>
          <p:nvPr/>
        </p:nvSpPr>
        <p:spPr>
          <a:xfrm>
            <a:off x="8366760" y="2926080"/>
            <a:ext cx="2743200" cy="1280160"/>
          </a:xfrm>
          <a:prstGeom prst="rect">
            <a:avLst/>
          </a:prstGeom>
          <a:noFill/>
          <a:ln/>
        </p:spPr>
        <p:txBody>
          <a:bodyPr wrap="square" lIns="0" tIns="0" rIns="0" bIns="0" rtlCol="0" anchor="ctr"/>
          <a:lstStyle/>
          <a:p>
            <a:pPr indent="0" marL="0">
              <a:lnSpc>
                <a:spcPts val="1800"/>
              </a:lnSpc>
              <a:buNone/>
            </a:pPr>
            <a:r>
              <a:rPr lang="en-US" sz="1300" dirty="0">
                <a:solidFill>
                  <a:srgbClr val="3A3A44"/>
                </a:solidFill>
                <a:latin typeface="Calibri" pitchFamily="34" charset="0"/>
                <a:ea typeface="Calibri" pitchFamily="34" charset="-122"/>
                <a:cs typeface="Calibri" pitchFamily="34" charset="-120"/>
              </a:rPr>
              <a:t>Claude Code in a terminal: "read the CSV, compute the measures, fit the model, make the figure." It just does it.</a:t>
            </a:r>
            <a:endParaRPr lang="en-US" sz="1300" dirty="0"/>
          </a:p>
        </p:txBody>
      </p:sp>
      <p:sp>
        <p:nvSpPr>
          <p:cNvPr id="18" name="Text 15"/>
          <p:cNvSpPr/>
          <p:nvPr/>
        </p:nvSpPr>
        <p:spPr>
          <a:xfrm>
            <a:off x="8366760" y="4297680"/>
            <a:ext cx="2743200" cy="457200"/>
          </a:xfrm>
          <a:prstGeom prst="rect">
            <a:avLst/>
          </a:prstGeom>
          <a:noFill/>
          <a:ln/>
        </p:spPr>
        <p:txBody>
          <a:bodyPr wrap="square" lIns="0" tIns="0" rIns="0" bIns="0" rtlCol="0" anchor="ctr"/>
          <a:lstStyle/>
          <a:p>
            <a:pPr indent="0" marL="0">
              <a:buNone/>
            </a:pPr>
            <a:r>
              <a:rPr lang="en-US" sz="1200" i="1" dirty="0">
                <a:solidFill>
                  <a:srgbClr val="B5446E"/>
                </a:solidFill>
                <a:latin typeface="Calibri" pitchFamily="34" charset="0"/>
                <a:ea typeface="Calibri" pitchFamily="34" charset="-122"/>
                <a:cs typeface="Calibri" pitchFamily="34" charset="-120"/>
              </a:rPr>
              <a:t>Ninety seconds for today's ninety minutes.</a:t>
            </a:r>
            <a:endParaRPr lang="en-US" sz="1200" dirty="0"/>
          </a:p>
        </p:txBody>
      </p:sp>
      <p:sp>
        <p:nvSpPr>
          <p:cNvPr id="19" name="Text 16"/>
          <p:cNvSpPr/>
          <p:nvPr/>
        </p:nvSpPr>
        <p:spPr>
          <a:xfrm>
            <a:off x="777240" y="5120640"/>
            <a:ext cx="10607040" cy="1097280"/>
          </a:xfrm>
          <a:prstGeom prst="rect">
            <a:avLst/>
          </a:prstGeom>
          <a:noFill/>
          <a:ln/>
        </p:spPr>
        <p:txBody>
          <a:bodyPr wrap="square" lIns="0" tIns="0" rIns="0" bIns="0" rtlCol="0" anchor="ctr"/>
          <a:lstStyle/>
          <a:p>
            <a:pPr indent="0" marL="0">
              <a:lnSpc>
                <a:spcPts val="2400"/>
              </a:lnSpc>
              <a:buNone/>
            </a:pPr>
            <a:r>
              <a:rPr lang="en-US" sz="1600" b="1" dirty="0">
                <a:solidFill>
                  <a:srgbClr val="1C1B22"/>
                </a:solidFill>
                <a:latin typeface="Calibri" pitchFamily="34" charset="0"/>
                <a:ea typeface="Calibri" pitchFamily="34" charset="-122"/>
                <a:cs typeface="Calibri" pitchFamily="34" charset="-120"/>
              </a:rPr>
              <a:t>The agent will do it faster than you did. The thing that changed today is that you can now read what it did and tell whether it's right. That is the entire difference between a tool and a liability.</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C1B22"/>
        </a:solidFill>
      </p:bgPr>
    </p:bg>
    <p:spTree>
      <p:nvGrpSpPr>
        <p:cNvPr id="1" name=""/>
        <p:cNvGrpSpPr/>
        <p:nvPr/>
      </p:nvGrpSpPr>
      <p:grpSpPr>
        <a:xfrm>
          <a:off x="0" y="0"/>
          <a:ext cx="0" cy="0"/>
          <a:chOff x="0" y="0"/>
          <a:chExt cx="0" cy="0"/>
        </a:xfrm>
      </p:grpSpPr>
      <p:sp>
        <p:nvSpPr>
          <p:cNvPr id="2" name="Text 0"/>
          <p:cNvSpPr/>
          <p:nvPr/>
        </p:nvSpPr>
        <p:spPr>
          <a:xfrm>
            <a:off x="777240" y="2286000"/>
            <a:ext cx="10634472" cy="137160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You are now the senior author</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on everything it writes for you.</a:t>
            </a:r>
            <a:endParaRPr lang="en-US" sz="4600" dirty="0"/>
          </a:p>
        </p:txBody>
      </p:sp>
      <p:sp>
        <p:nvSpPr>
          <p:cNvPr id="3" name="Text 1"/>
          <p:cNvSpPr/>
          <p:nvPr/>
        </p:nvSpPr>
        <p:spPr>
          <a:xfrm>
            <a:off x="777240" y="3657600"/>
            <a:ext cx="10634472" cy="1463040"/>
          </a:xfrm>
          <a:prstGeom prst="rect">
            <a:avLst/>
          </a:prstGeom>
          <a:noFill/>
          <a:ln/>
        </p:spPr>
        <p:txBody>
          <a:bodyPr wrap="square" rtlCol="0" anchor="ctr"/>
          <a:lstStyle/>
          <a:p>
            <a:pPr indent="0" marL="0">
              <a:lnSpc>
                <a:spcPts val="3000"/>
              </a:lnSpc>
              <a:buNone/>
            </a:pPr>
            <a:r>
              <a:rPr lang="en-US" sz="2000" dirty="0">
                <a:solidFill>
                  <a:srgbClr val="C8C2CE"/>
                </a:solidFill>
                <a:latin typeface="Calibri" pitchFamily="34" charset="0"/>
                <a:ea typeface="Calibri" pitchFamily="34" charset="-122"/>
                <a:cs typeface="Calibri" pitchFamily="34" charset="-120"/>
              </a:rPr>
              <a:t>Act like it.</a:t>
            </a:r>
            <a:endParaRPr lang="en-US" sz="2000" dirty="0"/>
          </a:p>
          <a:p>
            <a:pPr indent="0" marL="0">
              <a:lnSpc>
                <a:spcPts val="3000"/>
              </a:lnSpc>
              <a:buNone/>
            </a:pPr>
            <a:endParaRPr lang="en-US" sz="2000" dirty="0"/>
          </a:p>
          <a:p>
            <a:pPr indent="0" marL="0">
              <a:lnSpc>
                <a:spcPts val="3000"/>
              </a:lnSpc>
              <a:buNone/>
            </a:pPr>
            <a:r>
              <a:rPr lang="en-US" sz="2000" dirty="0">
                <a:solidFill>
                  <a:srgbClr val="C8C2CE"/>
                </a:solidFill>
                <a:latin typeface="Calibri" pitchFamily="34" charset="0"/>
                <a:ea typeface="Calibri" pitchFamily="34" charset="-122"/>
                <a:cs typeface="Calibri" pitchFamily="34" charset="-120"/>
              </a:rPr>
              <a:t>Keep PROMPTS.md. That's the artifact.</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Coding with AI</dc:title>
  <dc:subject>PptxGenJS Presentation</dc:subject>
  <dc:creator>Workshop</dc:creator>
  <cp:lastModifiedBy>Workshop</cp:lastModifiedBy>
  <cp:revision>1</cp:revision>
  <dcterms:created xsi:type="dcterms:W3CDTF">2026-07-13T15:28:56Z</dcterms:created>
  <dcterms:modified xsi:type="dcterms:W3CDTF">2026-07-13T15:28:56Z</dcterms:modified>
</cp:coreProperties>
</file>